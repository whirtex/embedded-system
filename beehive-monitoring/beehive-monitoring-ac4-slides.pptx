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43891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5C636E"/>
                </a:solidFill>
                <a:latin typeface="Arial"/>
              </a:rPr>
              <a:t>IBM3118  |  AC4  |  SBrT 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25880"/>
            <a:ext cx="1097280" cy="73152"/>
          </a:xfrm>
          <a:prstGeom prst="rect">
            <a:avLst/>
          </a:prstGeom>
          <a:solidFill>
            <a:srgbClr val="3D8DFF"/>
          </a:solidFill>
          <a:ln w="8890">
            <a:solidFill>
              <a:srgbClr val="3D8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45920"/>
            <a:ext cx="7863840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5600" b="1" i="0">
                <a:solidFill>
                  <a:srgbClr val="121418"/>
                </a:solidFill>
                <a:latin typeface="Arial"/>
              </a:rPr>
              <a:t>Beehive Monitoring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063240"/>
            <a:ext cx="713232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500" b="0" i="0">
                <a:solidFill>
                  <a:srgbClr val="5C636E"/>
                </a:solidFill>
                <a:latin typeface="Arial"/>
              </a:rPr>
              <a:t>Six references that shape a low-cost, non-invasive monitoring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8138160" y="1508760"/>
            <a:ext cx="3291840" cy="3291840"/>
          </a:xfrm>
          <a:prstGeom prst="rect">
            <a:avLst/>
          </a:prstGeom>
          <a:solidFill>
            <a:srgbClr val="E1F4FC"/>
          </a:solidFill>
          <a:ln w="8890">
            <a:solidFill>
              <a:srgbClr val="E1F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41080" y="2011680"/>
            <a:ext cx="2286000" cy="1051560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0" y="2258568"/>
            <a:ext cx="20116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 i="0">
                <a:solidFill>
                  <a:srgbClr val="3D8DFF"/>
                </a:solidFill>
                <a:latin typeface="Arial"/>
              </a:rPr>
              <a:t>ENVIRONMENT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8641080" y="3337560"/>
            <a:ext cx="2286000" cy="1051560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0" y="3584448"/>
            <a:ext cx="20116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 i="0">
                <a:solidFill>
                  <a:srgbClr val="3D8DFF"/>
                </a:solidFill>
                <a:latin typeface="Arial"/>
              </a:rPr>
              <a:t>ENTRANCE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41080" y="4663440"/>
            <a:ext cx="2286000" cy="1051560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0" y="4910328"/>
            <a:ext cx="20116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 i="0">
                <a:solidFill>
                  <a:srgbClr val="3D8DFF"/>
                </a:solidFill>
                <a:latin typeface="Arial"/>
              </a:rPr>
              <a:t>ACOUSTICS + IoT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199632"/>
            <a:ext cx="49377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 i="0">
                <a:solidFill>
                  <a:srgbClr val="5C636E"/>
                </a:solidFill>
                <a:latin typeface="Arial"/>
              </a:rPr>
              <a:t>Igor Costa  ·  Jorge Alves  ·  Ian Dias  ·  Davi Ito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18520" y="6528816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0" i="0">
                <a:solidFill>
                  <a:srgbClr val="5C636E"/>
                </a:solidFill>
                <a:latin typeface="Arial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0040"/>
            <a:ext cx="43891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5C636E"/>
                </a:solidFill>
                <a:latin typeface="Arial"/>
              </a:rPr>
              <a:t>AC4  | 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56132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500" b="1" i="0">
                <a:solidFill>
                  <a:srgbClr val="121418"/>
                </a:solidFill>
                <a:latin typeface="Arial"/>
              </a:rPr>
              <a:t>One signal is not enough to monitor a hive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53312"/>
            <a:ext cx="1005840" cy="54864"/>
          </a:xfrm>
          <a:prstGeom prst="rect">
            <a:avLst/>
          </a:prstGeom>
          <a:solidFill>
            <a:srgbClr val="3D8DFF"/>
          </a:solidFill>
          <a:ln w="8890">
            <a:solidFill>
              <a:srgbClr val="3D8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18520" y="320040"/>
            <a:ext cx="5029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100" b="1" i="0">
                <a:solidFill>
                  <a:srgbClr val="5C636E"/>
                </a:solidFill>
                <a:latin typeface="Arial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737360"/>
            <a:ext cx="1042416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1418"/>
                </a:solidFill>
                <a:latin typeface="Arial"/>
              </a:rPr>
              <a:t>The literature supports a multimodal view of the colony.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2487168"/>
            <a:ext cx="3337560" cy="2514600"/>
          </a:xfrm>
          <a:prstGeom prst="rect">
            <a:avLst/>
          </a:prstGeom>
          <a:solidFill>
            <a:srgbClr val="E1F4FC"/>
          </a:solidFill>
          <a:ln w="8890">
            <a:solidFill>
              <a:srgbClr val="E1F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79776"/>
            <a:ext cx="27432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3D8DFF"/>
                </a:solidFill>
                <a:latin typeface="Arial"/>
              </a:rPr>
              <a:t>01  CONTEXT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46120"/>
            <a:ext cx="2697480" cy="12070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000" b="0" i="0">
                <a:solidFill>
                  <a:srgbClr val="121418"/>
                </a:solidFill>
                <a:latin typeface="Arial"/>
              </a:rPr>
              <a:t>Manual inspections are intermittent and may disturb the colony when the hive is opened repeatedly.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43984" y="2487168"/>
            <a:ext cx="3337560" cy="2514600"/>
          </a:xfrm>
          <a:prstGeom prst="rect">
            <a:avLst/>
          </a:prstGeom>
          <a:solidFill>
            <a:srgbClr val="EDEDED"/>
          </a:solidFill>
          <a:ln w="8890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0016" y="2779776"/>
            <a:ext cx="27432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3D8DFF"/>
                </a:solidFill>
                <a:latin typeface="Arial"/>
              </a:rPr>
              <a:t>02  DATA PIPELINE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0016" y="3246120"/>
            <a:ext cx="2697480" cy="12070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000" b="0" i="0">
                <a:solidFill>
                  <a:srgbClr val="121418"/>
                </a:solidFill>
                <a:latin typeface="Arial"/>
              </a:rPr>
              <a:t>IoT systems connect environmental sensors, audio/video capture, wireless communication and remote storage.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2487168"/>
            <a:ext cx="3291840" cy="2514600"/>
          </a:xfrm>
          <a:prstGeom prst="rect">
            <a:avLst/>
          </a:prstGeom>
          <a:solidFill>
            <a:srgbClr val="FFF8DC"/>
          </a:solidFill>
          <a:ln w="8890">
            <a:solidFill>
              <a:srgbClr val="FFF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85632" y="2779776"/>
            <a:ext cx="27432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3D8DFF"/>
                </a:solidFill>
                <a:latin typeface="Arial"/>
              </a:rPr>
              <a:t>03  RESEARCH GAP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85632" y="3246120"/>
            <a:ext cx="2651760" cy="12070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000" b="0" i="0">
                <a:solidFill>
                  <a:srgbClr val="121418"/>
                </a:solidFill>
                <a:latin typeface="Arial"/>
              </a:rPr>
              <a:t>Signals are promising, but thresholds, metrics and cross-colony validation are not standardized.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5486400"/>
            <a:ext cx="1033272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000" b="0" i="0">
                <a:solidFill>
                  <a:srgbClr val="5C636E"/>
                </a:solidFill>
                <a:latin typeface="Arial"/>
              </a:rPr>
              <a:t>Project direction: combine DHT11 measurements, entrance imaging and wireless data collection; treat audio, vibration and event detection as validation-dependent extensions.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6473952"/>
            <a:ext cx="10881360" cy="10972"/>
          </a:xfrm>
          <a:prstGeom prst="rect">
            <a:avLst/>
          </a:prstGeom>
          <a:solidFill>
            <a:srgbClr val="B8BCC4"/>
          </a:solidFill>
          <a:ln w="8890">
            <a:solidFill>
              <a:srgbClr val="B8B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6528816"/>
            <a:ext cx="102412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5C636E"/>
                </a:solidFill>
                <a:latin typeface="Arial"/>
              </a:rPr>
              <a:t>Fontes: [1]--[6], as listed in references.bib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18520" y="6528816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0" i="0">
                <a:solidFill>
                  <a:srgbClr val="5C636E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0040"/>
            <a:ext cx="43891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5C636E"/>
                </a:solidFill>
                <a:latin typeface="Arial"/>
              </a:rPr>
              <a:t>REF. 1  |  LITERATURA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56132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500" b="1" i="0">
                <a:solidFill>
                  <a:srgbClr val="121418"/>
                </a:solidFill>
                <a:latin typeface="Arial"/>
              </a:rPr>
              <a:t>Zheng et al. connect hive conditions to activity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53312"/>
            <a:ext cx="1005840" cy="54864"/>
          </a:xfrm>
          <a:prstGeom prst="rect">
            <a:avLst/>
          </a:prstGeom>
          <a:solidFill>
            <a:srgbClr val="3D8DFF"/>
          </a:solidFill>
          <a:ln w="8890">
            <a:solidFill>
              <a:srgbClr val="3D8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18520" y="320040"/>
            <a:ext cx="5029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100" b="1" i="0">
                <a:solidFill>
                  <a:srgbClr val="5C636E"/>
                </a:solidFill>
                <a:latin typeface="Arial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664208"/>
            <a:ext cx="4800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3D8DFF"/>
                </a:solidFill>
                <a:latin typeface="Arial"/>
              </a:rPr>
              <a:t>APPROACH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993392"/>
            <a:ext cx="4800600" cy="15361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121418"/>
                </a:solidFill>
                <a:latin typeface="Arial"/>
              </a:defRPr>
            </a:pPr>
            <a:r>
              <a:t>Temperature and humidity at center, margin, entrance and outside.</a:t>
            </a:r>
          </a:p>
          <a:p>
            <a:pPr>
              <a:spcAft>
                <a:spcPts val="800"/>
              </a:spcAft>
              <a:defRPr sz="1700" b="0">
                <a:solidFill>
                  <a:srgbClr val="121418"/>
                </a:solidFill>
                <a:latin typeface="Arial"/>
              </a:defRPr>
            </a:pPr>
            <a:r>
              <a:t>Internal sound sensor plus entrance-facing webcam.</a:t>
            </a:r>
          </a:p>
          <a:p>
            <a:pPr>
              <a:spcAft>
                <a:spcPts val="800"/>
              </a:spcAft>
              <a:defRPr sz="1700" b="0">
                <a:solidFill>
                  <a:srgbClr val="121418"/>
                </a:solidFill>
                <a:latin typeface="Arial"/>
              </a:defRPr>
            </a:pPr>
            <a:r>
              <a:t>YOLOv5 + DeepSORT for multi-bee tracking.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767328"/>
            <a:ext cx="4800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3D8DFF"/>
                </a:solidFill>
                <a:latin typeface="Arial"/>
              </a:rPr>
              <a:t>QUALITATIVE TAKEAWAY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4096512"/>
            <a:ext cx="4800600" cy="9875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0" i="0">
                <a:solidFill>
                  <a:srgbClr val="121418"/>
                </a:solidFill>
                <a:latin typeface="Arial"/>
              </a:rPr>
              <a:t>A strong example of multimodal IoT monitoring: environmental measurements are interpreted together with entrance activity and internal sound.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06440" y="1664208"/>
            <a:ext cx="5715000" cy="4407408"/>
          </a:xfrm>
          <a:prstGeom prst="rect">
            <a:avLst/>
          </a:prstGeom>
          <a:solidFill>
            <a:srgbClr val="E1F4FC"/>
          </a:solidFill>
          <a:ln w="8890">
            <a:solidFill>
              <a:srgbClr val="E1F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44768" y="1956816"/>
            <a:ext cx="50292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3D8DFF"/>
                </a:solidFill>
                <a:latin typeface="Arial"/>
              </a:rPr>
              <a:t>QUANTITATIVE EVIDENCE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44768" y="2395728"/>
            <a:ext cx="2267712" cy="804672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91072" y="2505456"/>
            <a:ext cx="1975104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3D8DFF"/>
                </a:solidFill>
                <a:latin typeface="Arial"/>
              </a:rPr>
              <a:t>83.5 ± 0.7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91072" y="2962656"/>
            <a:ext cx="1975104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121418"/>
                </a:solidFill>
                <a:latin typeface="Arial"/>
              </a:rPr>
              <a:t>MOTA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2395728"/>
            <a:ext cx="2267712" cy="804672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33104" y="2505456"/>
            <a:ext cx="1975104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3D8DFF"/>
                </a:solidFill>
                <a:latin typeface="Arial"/>
              </a:rPr>
              <a:t>77.3 ± 0.2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33104" y="2962656"/>
            <a:ext cx="1975104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121418"/>
                </a:solidFill>
                <a:latin typeface="Arial"/>
              </a:rPr>
              <a:t>MOTP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44768" y="3383280"/>
            <a:ext cx="2267712" cy="804672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91072" y="3493008"/>
            <a:ext cx="1975104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3D8DFF"/>
                </a:solidFill>
                <a:latin typeface="Arial"/>
              </a:rPr>
              <a:t>16 fps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1072" y="3950208"/>
            <a:ext cx="1975104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121418"/>
                </a:solidFill>
                <a:latin typeface="Arial"/>
              </a:rPr>
              <a:t>maximum reported rate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86800" y="3383280"/>
            <a:ext cx="2267712" cy="804672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33104" y="3493008"/>
            <a:ext cx="1975104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3D8DFF"/>
                </a:solidFill>
                <a:latin typeface="Arial"/>
              </a:rPr>
              <a:t>25–37 °C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33104" y="3950208"/>
            <a:ext cx="1975104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121418"/>
                </a:solidFill>
                <a:latin typeface="Arial"/>
              </a:rPr>
              <a:t>center temperature range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44768" y="4608576"/>
            <a:ext cx="48006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3D8DFF"/>
                </a:solidFill>
                <a:latin typeface="Arial"/>
              </a:rPr>
              <a:t>PROJECT IMPLICATION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44768" y="4919472"/>
            <a:ext cx="4773168" cy="8412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0" i="0">
                <a:solidFill>
                  <a:srgbClr val="121418"/>
                </a:solidFill>
                <a:latin typeface="Arial"/>
              </a:rPr>
              <a:t>Supports the sensor distribution, entrance camera and multimodal architecture. The reported environmental ranges are evidence from one study, not universal thresholds.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6473952"/>
            <a:ext cx="10881360" cy="10972"/>
          </a:xfrm>
          <a:prstGeom prst="rect">
            <a:avLst/>
          </a:prstGeom>
          <a:solidFill>
            <a:srgbClr val="B8BCC4"/>
          </a:solidFill>
          <a:ln w="8890">
            <a:solidFill>
              <a:srgbClr val="B8B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" y="6528816"/>
            <a:ext cx="102412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5C636E"/>
                </a:solidFill>
                <a:latin typeface="Arial"/>
              </a:rPr>
              <a:t>Fontes: Zheng et al. (2024), Smart Agricultural Technology, DOI 10.1016/j.atech.2024.100584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18520" y="6528816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0" i="0">
                <a:solidFill>
                  <a:srgbClr val="5C636E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0040"/>
            <a:ext cx="43891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5C636E"/>
                </a:solidFill>
                <a:latin typeface="Arial"/>
              </a:rPr>
              <a:t>REF. 2  |  LITERATURA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56132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500" b="1" i="0">
                <a:solidFill>
                  <a:srgbClr val="121418"/>
                </a:solidFill>
                <a:latin typeface="Arial"/>
              </a:rPr>
              <a:t>IntelliBeeHive: low-cost vision with clear limits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53312"/>
            <a:ext cx="1005840" cy="54864"/>
          </a:xfrm>
          <a:prstGeom prst="rect">
            <a:avLst/>
          </a:prstGeom>
          <a:solidFill>
            <a:srgbClr val="3D8DFF"/>
          </a:solidFill>
          <a:ln w="8890">
            <a:solidFill>
              <a:srgbClr val="3D8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18520" y="320040"/>
            <a:ext cx="5029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100" b="1" i="0">
                <a:solidFill>
                  <a:srgbClr val="5C636E"/>
                </a:solidFill>
                <a:latin typeface="Arial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664208"/>
            <a:ext cx="4800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3D8DFF"/>
                </a:solidFill>
                <a:latin typeface="Arial"/>
              </a:rPr>
              <a:t>APPROACH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993392"/>
            <a:ext cx="4800600" cy="15361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121418"/>
                </a:solidFill>
                <a:latin typeface="Arial"/>
              </a:defRPr>
            </a:pPr>
            <a:r>
              <a:t>Entrance-facing camera and account-based remote monitoring.</a:t>
            </a:r>
          </a:p>
          <a:p>
            <a:pPr>
              <a:spcAft>
                <a:spcPts val="800"/>
              </a:spcAft>
              <a:defRPr sz="1700" b="0">
                <a:solidFill>
                  <a:srgbClr val="121418"/>
                </a:solidFill>
                <a:latin typeface="Arial"/>
              </a:defRPr>
            </a:pPr>
            <a:r>
              <a:t>YOLOv7-tiny models for bees, pollen and mites.</a:t>
            </a:r>
          </a:p>
          <a:p>
            <a:pPr>
              <a:spcAft>
                <a:spcPts val="800"/>
              </a:spcAft>
              <a:defRPr sz="1700" b="0">
                <a:solidFill>
                  <a:srgbClr val="121418"/>
                </a:solidFill>
                <a:latin typeface="Arial"/>
              </a:defRPr>
            </a:pPr>
            <a:r>
              <a:t>Designed for low-cost, real-time observation.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767328"/>
            <a:ext cx="4800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3D8DFF"/>
                </a:solidFill>
                <a:latin typeface="Arial"/>
              </a:rPr>
              <a:t>QUALITATIVE TAKEAWAY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4096512"/>
            <a:ext cx="4800600" cy="9875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0" i="0">
                <a:solidFill>
                  <a:srgbClr val="121418"/>
                </a:solidFill>
                <a:latin typeface="Arial"/>
              </a:rPr>
              <a:t>The paper demonstrates that lightweight computer vision can monitor the hive entrance without disturbing the colony, but the Varroa result must remain a proof of concept.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06440" y="1664208"/>
            <a:ext cx="5715000" cy="4407408"/>
          </a:xfrm>
          <a:prstGeom prst="rect">
            <a:avLst/>
          </a:prstGeom>
          <a:solidFill>
            <a:srgbClr val="FFECEC"/>
          </a:solidFill>
          <a:ln w="8890">
            <a:solidFill>
              <a:srgbClr val="FF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44768" y="1956816"/>
            <a:ext cx="50292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3D8DFF"/>
                </a:solidFill>
                <a:latin typeface="Arial"/>
              </a:rPr>
              <a:t>QUANTITATIVE EVIDENCE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44768" y="2395728"/>
            <a:ext cx="2267712" cy="804672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91072" y="2505456"/>
            <a:ext cx="1975104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3D8DFF"/>
                </a:solidFill>
                <a:latin typeface="Arial"/>
              </a:rPr>
              <a:t>96.28%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91072" y="2962656"/>
            <a:ext cx="1975104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121418"/>
                </a:solidFill>
                <a:latin typeface="Arial"/>
              </a:rPr>
              <a:t>tracking accuracy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2395728"/>
            <a:ext cx="2267712" cy="804672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33104" y="2505456"/>
            <a:ext cx="1975104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3D8DFF"/>
                </a:solidFill>
                <a:latin typeface="Arial"/>
              </a:rPr>
              <a:t>0.8319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33104" y="2962656"/>
            <a:ext cx="1975104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121418"/>
                </a:solidFill>
                <a:latin typeface="Arial"/>
              </a:rPr>
              <a:t>pollen F1-score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44768" y="3383280"/>
            <a:ext cx="2267712" cy="804672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91072" y="3493008"/>
            <a:ext cx="1975104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3D8DFF"/>
                </a:solidFill>
                <a:latin typeface="Arial"/>
              </a:rPr>
              <a:t>YOLOv7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1072" y="3950208"/>
            <a:ext cx="1975104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121418"/>
                </a:solidFill>
                <a:latin typeface="Arial"/>
              </a:rPr>
              <a:t>tiny variant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86800" y="3383280"/>
            <a:ext cx="2267712" cy="804672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33104" y="3493008"/>
            <a:ext cx="1975104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3D8DFF"/>
                </a:solidFill>
                <a:latin typeface="Arial"/>
              </a:rPr>
              <a:t>Limited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33104" y="3950208"/>
            <a:ext cx="1975104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121418"/>
                </a:solidFill>
                <a:latin typeface="Arial"/>
              </a:rPr>
              <a:t>mite data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44768" y="4608576"/>
            <a:ext cx="48006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3D8DFF"/>
                </a:solidFill>
                <a:latin typeface="Arial"/>
              </a:rPr>
              <a:t>PROJECT IMPLICATION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44768" y="4919472"/>
            <a:ext cx="4773168" cy="8412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0" i="0">
                <a:solidFill>
                  <a:srgbClr val="121418"/>
                </a:solidFill>
                <a:latin typeface="Arial"/>
              </a:rPr>
              <a:t>Supports the ESP32-CAM / lightweight-model direction. Pollen and Varroa require representative labeled data before being treated as reliable outputs.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6473952"/>
            <a:ext cx="10881360" cy="10972"/>
          </a:xfrm>
          <a:prstGeom prst="rect">
            <a:avLst/>
          </a:prstGeom>
          <a:solidFill>
            <a:srgbClr val="B8BCC4"/>
          </a:solidFill>
          <a:ln w="8890">
            <a:solidFill>
              <a:srgbClr val="B8B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" y="6528816"/>
            <a:ext cx="102412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5C636E"/>
                </a:solidFill>
                <a:latin typeface="Arial"/>
              </a:rPr>
              <a:t>Fontes: Narcia-Macias et al. (2024), ICMLA, DOI 10.1109/ICMLA61862.2024.00122; open preprint: arXiv:2309.08955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18520" y="6528816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0" i="0">
                <a:solidFill>
                  <a:srgbClr val="5C636E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0040"/>
            <a:ext cx="43891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5C636E"/>
                </a:solidFill>
                <a:latin typeface="Arial"/>
              </a:rPr>
              <a:t>REF. 3  |  LITERATURA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56132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500" b="1" i="0">
                <a:solidFill>
                  <a:srgbClr val="121418"/>
                </a:solidFill>
                <a:latin typeface="Arial"/>
              </a:rPr>
              <a:t>Acoustic sensing lacks standard metrics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53312"/>
            <a:ext cx="1005840" cy="54864"/>
          </a:xfrm>
          <a:prstGeom prst="rect">
            <a:avLst/>
          </a:prstGeom>
          <a:solidFill>
            <a:srgbClr val="3D8DFF"/>
          </a:solidFill>
          <a:ln w="8890">
            <a:solidFill>
              <a:srgbClr val="3D8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18520" y="320040"/>
            <a:ext cx="5029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100" b="1" i="0">
                <a:solidFill>
                  <a:srgbClr val="5C636E"/>
                </a:solidFill>
                <a:latin typeface="Arial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664208"/>
            <a:ext cx="4800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3D8DFF"/>
                </a:solidFill>
                <a:latin typeface="Arial"/>
              </a:rPr>
              <a:t>APPROACH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993392"/>
            <a:ext cx="4800600" cy="15361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121418"/>
                </a:solidFill>
                <a:latin typeface="Arial"/>
              </a:defRPr>
            </a:pPr>
            <a:r>
              <a:t>Review of microphones and accelerometers for beekeeping.</a:t>
            </a:r>
          </a:p>
          <a:p>
            <a:pPr>
              <a:spcAft>
                <a:spcPts val="800"/>
              </a:spcAft>
              <a:defRPr sz="1700" b="0">
                <a:solidFill>
                  <a:srgbClr val="121418"/>
                </a:solidFill>
                <a:latin typeface="Arial"/>
              </a:defRPr>
            </a:pPr>
            <a:r>
              <a:t>Focus on queen presence and swarming-related states.</a:t>
            </a:r>
          </a:p>
          <a:p>
            <a:pPr>
              <a:spcAft>
                <a:spcPts val="800"/>
              </a:spcAft>
              <a:defRPr sz="1700" b="0">
                <a:solidFill>
                  <a:srgbClr val="121418"/>
                </a:solidFill>
                <a:latin typeface="Arial"/>
              </a:defRPr>
            </a:pPr>
            <a:r>
              <a:t>Signals can be collected without opening the hive.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767328"/>
            <a:ext cx="4800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3D8DFF"/>
                </a:solidFill>
                <a:latin typeface="Arial"/>
              </a:rPr>
              <a:t>QUALITATIVE TAKEAWAY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4096512"/>
            <a:ext cx="4800600" cy="9875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0" i="0">
                <a:solidFill>
                  <a:srgbClr val="121418"/>
                </a:solidFill>
                <a:latin typeface="Arial"/>
              </a:rPr>
              <a:t>The review supports acoustic and vibration monitoring as a complementary, non-invasive modality, while emphasizing that results are difficult to compare across colonies and studies.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06440" y="1664208"/>
            <a:ext cx="5715000" cy="4407408"/>
          </a:xfrm>
          <a:prstGeom prst="rect">
            <a:avLst/>
          </a:prstGeom>
          <a:solidFill>
            <a:srgbClr val="FFF8DC"/>
          </a:solidFill>
          <a:ln w="8890">
            <a:solidFill>
              <a:srgbClr val="FFF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44768" y="1956816"/>
            <a:ext cx="50292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3D8DFF"/>
                </a:solidFill>
                <a:latin typeface="Arial"/>
              </a:rPr>
              <a:t>QUANTITATIVE EVIDENCE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44768" y="2395728"/>
            <a:ext cx="2267712" cy="804672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91072" y="2505456"/>
            <a:ext cx="1975104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3D8DFF"/>
                </a:solidFill>
                <a:latin typeface="Arial"/>
              </a:rPr>
              <a:t>N/A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91072" y="2962656"/>
            <a:ext cx="1975104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121418"/>
                </a:solidFill>
                <a:latin typeface="Arial"/>
              </a:rPr>
              <a:t>pooled score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2395728"/>
            <a:ext cx="2267712" cy="804672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33104" y="2505456"/>
            <a:ext cx="1975104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3D8DFF"/>
                </a:solidFill>
                <a:latin typeface="Arial"/>
              </a:rPr>
              <a:t>Small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33104" y="2962656"/>
            <a:ext cx="1975104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121418"/>
                </a:solidFill>
                <a:latin typeface="Arial"/>
              </a:rPr>
              <a:t>datasets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44768" y="3383280"/>
            <a:ext cx="2267712" cy="804672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91072" y="3493008"/>
            <a:ext cx="1975104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3D8DFF"/>
                </a:solidFill>
                <a:latin typeface="Arial"/>
              </a:rPr>
              <a:t>No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1072" y="3950208"/>
            <a:ext cx="1975104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121418"/>
                </a:solidFill>
                <a:latin typeface="Arial"/>
              </a:rPr>
              <a:t>common metrics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86800" y="3383280"/>
            <a:ext cx="2267712" cy="804672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33104" y="3493008"/>
            <a:ext cx="1975104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3D8DFF"/>
                </a:solidFill>
                <a:latin typeface="Arial"/>
              </a:rPr>
              <a:t>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33104" y="3950208"/>
            <a:ext cx="1975104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121418"/>
                </a:solidFill>
                <a:latin typeface="Arial"/>
              </a:rPr>
              <a:t>generalizability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44768" y="4608576"/>
            <a:ext cx="48006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3D8DFF"/>
                </a:solidFill>
                <a:latin typeface="Arial"/>
              </a:rPr>
              <a:t>PROJECT IMPLICATION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44768" y="4919472"/>
            <a:ext cx="4773168" cy="8412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0" i="0">
                <a:solidFill>
                  <a:srgbClr val="121418"/>
                </a:solidFill>
                <a:latin typeface="Arial"/>
              </a:rPr>
              <a:t>The project should preserve signal context and document feature extraction. The KY-038 can only be an initial noise indicator; reliable recording needs a suitable microphone.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6473952"/>
            <a:ext cx="10881360" cy="10972"/>
          </a:xfrm>
          <a:prstGeom prst="rect">
            <a:avLst/>
          </a:prstGeom>
          <a:solidFill>
            <a:srgbClr val="B8BCC4"/>
          </a:solidFill>
          <a:ln w="8890">
            <a:solidFill>
              <a:srgbClr val="B8B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" y="6528816"/>
            <a:ext cx="102412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5C636E"/>
                </a:solidFill>
                <a:latin typeface="Arial"/>
              </a:rPr>
              <a:t>Fontes: Uthoff et al. (2023), Computers and Electronics in Agriculture, DOI 10.1016/j.compag.2022.107589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18520" y="6528816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0" i="0">
                <a:solidFill>
                  <a:srgbClr val="5C636E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0040"/>
            <a:ext cx="43891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5C636E"/>
                </a:solidFill>
                <a:latin typeface="Arial"/>
              </a:rPr>
              <a:t>REF. 4  |  LITERATURA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56132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500" b="1" i="0">
                <a:solidFill>
                  <a:srgbClr val="121418"/>
                </a:solidFill>
                <a:latin typeface="Arial"/>
              </a:rPr>
              <a:t>Beemon builds a remote monitoring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53312"/>
            <a:ext cx="1005840" cy="54864"/>
          </a:xfrm>
          <a:prstGeom prst="rect">
            <a:avLst/>
          </a:prstGeom>
          <a:solidFill>
            <a:srgbClr val="3D8DFF"/>
          </a:solidFill>
          <a:ln w="8890">
            <a:solidFill>
              <a:srgbClr val="3D8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18520" y="320040"/>
            <a:ext cx="5029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100" b="1" i="0">
                <a:solidFill>
                  <a:srgbClr val="5C636E"/>
                </a:solidFill>
                <a:latin typeface="Arial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664208"/>
            <a:ext cx="4800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3D8DFF"/>
                </a:solidFill>
                <a:latin typeface="Arial"/>
              </a:rPr>
              <a:t>APPROACH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993392"/>
            <a:ext cx="4800600" cy="15361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121418"/>
                </a:solidFill>
                <a:latin typeface="Arial"/>
              </a:defRPr>
            </a:pPr>
            <a:r>
              <a:t>Temperature, humidity, weight, audio and video capture.</a:t>
            </a:r>
          </a:p>
          <a:p>
            <a:pPr>
              <a:spcAft>
                <a:spcPts val="800"/>
              </a:spcAft>
              <a:defRPr sz="1700" b="0">
                <a:solidFill>
                  <a:srgbClr val="121418"/>
                </a:solidFill>
                <a:latin typeface="Arial"/>
              </a:defRPr>
            </a:pPr>
            <a:r>
              <a:t>MQTT to ThingsBoard and remote server storage.</a:t>
            </a:r>
          </a:p>
          <a:p>
            <a:pPr>
              <a:spcAft>
                <a:spcPts val="800"/>
              </a:spcAft>
              <a:defRPr sz="1700" b="0">
                <a:solidFill>
                  <a:srgbClr val="121418"/>
                </a:solidFill>
                <a:latin typeface="Arial"/>
              </a:defRPr>
            </a:pPr>
            <a:r>
              <a:t>Continuous operation in an outdoor apiary.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767328"/>
            <a:ext cx="4800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3D8DFF"/>
                </a:solidFill>
                <a:latin typeface="Arial"/>
              </a:rPr>
              <a:t>QUALITATIVE TAKEAWAY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4096512"/>
            <a:ext cx="4800600" cy="9875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0" i="0">
                <a:solidFill>
                  <a:srgbClr val="121418"/>
                </a:solidFill>
                <a:latin typeface="Arial"/>
              </a:rPr>
              <a:t>Beemon focuses on reliable data acquisition and remote access. Its contribution is the end-to-end monitoring infrastructure rather than a fully validated colony-health classifier.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06440" y="1664208"/>
            <a:ext cx="5715000" cy="4407408"/>
          </a:xfrm>
          <a:prstGeom prst="rect">
            <a:avLst/>
          </a:prstGeom>
          <a:solidFill>
            <a:srgbClr val="EDEDED"/>
          </a:solidFill>
          <a:ln w="8890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44768" y="1956816"/>
            <a:ext cx="50292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3D8DFF"/>
                </a:solidFill>
                <a:latin typeface="Arial"/>
              </a:rPr>
              <a:t>QUANTITATIVE EVIDENCE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44768" y="2395728"/>
            <a:ext cx="2267712" cy="804672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91072" y="2505456"/>
            <a:ext cx="1975104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3D8DFF"/>
                </a:solidFill>
                <a:latin typeface="Arial"/>
              </a:rPr>
              <a:t>44.1 kHz+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91072" y="2962656"/>
            <a:ext cx="1975104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121418"/>
                </a:solidFill>
                <a:latin typeface="Arial"/>
              </a:rPr>
              <a:t>audio capability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2395728"/>
            <a:ext cx="2267712" cy="804672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33104" y="2505456"/>
            <a:ext cx="1975104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3D8DFF"/>
                </a:solidFill>
                <a:latin typeface="Arial"/>
              </a:rPr>
              <a:t>Near-real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33104" y="2962656"/>
            <a:ext cx="1975104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121418"/>
                </a:solidFill>
                <a:latin typeface="Arial"/>
              </a:rPr>
              <a:t>time collection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44768" y="3383280"/>
            <a:ext cx="2267712" cy="804672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91072" y="3493008"/>
            <a:ext cx="1975104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3D8DFF"/>
                </a:solidFill>
                <a:latin typeface="Arial"/>
              </a:rPr>
              <a:t>Outdoor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1072" y="3950208"/>
            <a:ext cx="1975104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121418"/>
                </a:solidFill>
                <a:latin typeface="Arial"/>
              </a:rPr>
              <a:t>continuous operation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86800" y="3383280"/>
            <a:ext cx="2267712" cy="804672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33104" y="3493008"/>
            <a:ext cx="1975104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3D8DFF"/>
                </a:solidFill>
                <a:latin typeface="Arial"/>
              </a:rPr>
              <a:t>Limited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33104" y="3950208"/>
            <a:ext cx="1975104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121418"/>
                </a:solidFill>
                <a:latin typeface="Arial"/>
              </a:rPr>
              <a:t>field results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44768" y="4608576"/>
            <a:ext cx="48006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3D8DFF"/>
                </a:solidFill>
                <a:latin typeface="Arial"/>
              </a:rPr>
              <a:t>PROJECT IMPLICATION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44768" y="4919472"/>
            <a:ext cx="4773168" cy="8412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0" i="0">
                <a:solidFill>
                  <a:srgbClr val="121418"/>
                </a:solidFill>
                <a:latin typeface="Arial"/>
              </a:rPr>
              <a:t>Supports MQTT, timestamped records, remote visualization and a separation between embedded capture and heavier analysis on a server.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6473952"/>
            <a:ext cx="10881360" cy="10972"/>
          </a:xfrm>
          <a:prstGeom prst="rect">
            <a:avLst/>
          </a:prstGeom>
          <a:solidFill>
            <a:srgbClr val="B8BCC4"/>
          </a:solidFill>
          <a:ln w="8890">
            <a:solidFill>
              <a:srgbClr val="B8B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" y="6528816"/>
            <a:ext cx="102412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5C636E"/>
                </a:solidFill>
                <a:latin typeface="Arial"/>
              </a:rPr>
              <a:t>Fontes: Tashakkori, Hamza &amp; Crawford (2021), Computers and Electronics in Agriculture, DOI 10.1016/j.compag.2021.106427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18520" y="6528816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0" i="0">
                <a:solidFill>
                  <a:srgbClr val="5C636E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0040"/>
            <a:ext cx="43891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5C636E"/>
                </a:solidFill>
                <a:latin typeface="Arial"/>
              </a:rPr>
              <a:t>REF. 5  |  LITERATURA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56132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500" b="1" i="0">
                <a:solidFill>
                  <a:srgbClr val="121418"/>
                </a:solidFill>
                <a:latin typeface="Arial"/>
              </a:rPr>
              <a:t>Wireless sensing can monitor hive conditions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53312"/>
            <a:ext cx="1005840" cy="54864"/>
          </a:xfrm>
          <a:prstGeom prst="rect">
            <a:avLst/>
          </a:prstGeom>
          <a:solidFill>
            <a:srgbClr val="3D8DFF"/>
          </a:solidFill>
          <a:ln w="8890">
            <a:solidFill>
              <a:srgbClr val="3D8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18520" y="320040"/>
            <a:ext cx="5029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100" b="1" i="0">
                <a:solidFill>
                  <a:srgbClr val="5C636E"/>
                </a:solidFill>
                <a:latin typeface="Arial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664208"/>
            <a:ext cx="4800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3D8DFF"/>
                </a:solidFill>
                <a:latin typeface="Arial"/>
              </a:rPr>
              <a:t>APPROACH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993392"/>
            <a:ext cx="4800600" cy="15361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121418"/>
                </a:solidFill>
                <a:latin typeface="Arial"/>
              </a:defRPr>
            </a:pPr>
            <a:r>
              <a:t>Wireless network for in-hive temperature, relative humidity and sound.</a:t>
            </a:r>
          </a:p>
          <a:p>
            <a:pPr>
              <a:spcAft>
                <a:spcPts val="800"/>
              </a:spcAft>
              <a:defRPr sz="1700" b="0">
                <a:solidFill>
                  <a:srgbClr val="121418"/>
                </a:solidFill>
                <a:latin typeface="Arial"/>
              </a:defRPr>
            </a:pPr>
            <a:r>
              <a:t>Wi-Fi evaluated in an apiary environment.</a:t>
            </a:r>
          </a:p>
          <a:p>
            <a:pPr>
              <a:spcAft>
                <a:spcPts val="800"/>
              </a:spcAft>
              <a:defRPr sz="1700" b="0">
                <a:solidFill>
                  <a:srgbClr val="121418"/>
                </a:solidFill>
                <a:latin typeface="Arial"/>
              </a:defRPr>
            </a:pPr>
            <a:r>
              <a:t>Signals interpreted in relation to stress and swarming.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767328"/>
            <a:ext cx="4800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3D8DFF"/>
                </a:solidFill>
                <a:latin typeface="Arial"/>
              </a:rPr>
              <a:t>QUALITATIVE TAKEAWAY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4096512"/>
            <a:ext cx="4800600" cy="9875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0" i="0">
                <a:solidFill>
                  <a:srgbClr val="121418"/>
                </a:solidFill>
                <a:latin typeface="Arial"/>
              </a:rPr>
              <a:t>The study provides evidence that wireless collection is practical, while also warning that radio-frequency effects and hive dynamics require continued evaluation.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06440" y="1664208"/>
            <a:ext cx="5715000" cy="4407408"/>
          </a:xfrm>
          <a:prstGeom prst="rect">
            <a:avLst/>
          </a:prstGeom>
          <a:solidFill>
            <a:srgbClr val="E1F4FC"/>
          </a:solidFill>
          <a:ln w="8890">
            <a:solidFill>
              <a:srgbClr val="E1F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44768" y="1956816"/>
            <a:ext cx="50292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3D8DFF"/>
                </a:solidFill>
                <a:latin typeface="Arial"/>
              </a:rPr>
              <a:t>QUANTITATIVE EVIDENCE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44768" y="2395728"/>
            <a:ext cx="2267712" cy="804672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91072" y="2505456"/>
            <a:ext cx="1975104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3D8DFF"/>
                </a:solidFill>
                <a:latin typeface="Arial"/>
              </a:rPr>
              <a:t>6 hives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91072" y="2962656"/>
            <a:ext cx="1975104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121418"/>
                </a:solidFill>
                <a:latin typeface="Arial"/>
              </a:rPr>
              <a:t>study scale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2395728"/>
            <a:ext cx="2267712" cy="804672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33104" y="2505456"/>
            <a:ext cx="1975104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3D8DFF"/>
                </a:solidFill>
                <a:latin typeface="Arial"/>
              </a:rPr>
              <a:t>30 days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33104" y="2962656"/>
            <a:ext cx="1975104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121418"/>
                </a:solidFill>
                <a:latin typeface="Arial"/>
              </a:rPr>
              <a:t>observation period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44768" y="3383280"/>
            <a:ext cx="2267712" cy="804672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91072" y="3493008"/>
            <a:ext cx="1975104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3D8DFF"/>
                </a:solidFill>
                <a:latin typeface="Arial"/>
              </a:rPr>
              <a:t>No change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1072" y="3950208"/>
            <a:ext cx="1975104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121418"/>
                </a:solidFill>
                <a:latin typeface="Arial"/>
              </a:rPr>
              <a:t>Wi-Fi effect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86800" y="3383280"/>
            <a:ext cx="2267712" cy="804672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33104" y="3493008"/>
            <a:ext cx="1975104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3D8DFF"/>
                </a:solidFill>
                <a:latin typeface="Arial"/>
              </a:rPr>
              <a:t>Real-time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33104" y="3950208"/>
            <a:ext cx="1975104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121418"/>
                </a:solidFill>
                <a:latin typeface="Arial"/>
              </a:rPr>
              <a:t>monitoring potential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44768" y="4608576"/>
            <a:ext cx="48006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3D8DFF"/>
                </a:solidFill>
                <a:latin typeface="Arial"/>
              </a:rPr>
              <a:t>PROJECT IMPLICATION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44768" y="4919472"/>
            <a:ext cx="4773168" cy="8412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0" i="0">
                <a:solidFill>
                  <a:srgbClr val="121418"/>
                </a:solidFill>
                <a:latin typeface="Arial"/>
              </a:rPr>
              <a:t>Supports Wi-Fi as the first communication option when coverage exists. The final deployment still needs testing for range, power and environmental stability.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6473952"/>
            <a:ext cx="10881360" cy="10972"/>
          </a:xfrm>
          <a:prstGeom prst="rect">
            <a:avLst/>
          </a:prstGeom>
          <a:solidFill>
            <a:srgbClr val="B8BCC4"/>
          </a:solidFill>
          <a:ln w="8890">
            <a:solidFill>
              <a:srgbClr val="B8B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" y="6528816"/>
            <a:ext cx="102412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5C636E"/>
                </a:solidFill>
                <a:latin typeface="Arial"/>
              </a:rPr>
              <a:t>Fontes: Henry et al. (2019), Computers and Electronics in Agriculture, DOI 10.1016/j.compag.2018.11.001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18520" y="6528816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0" i="0">
                <a:solidFill>
                  <a:srgbClr val="5C636E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0040"/>
            <a:ext cx="43891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5C636E"/>
                </a:solidFill>
                <a:latin typeface="Arial"/>
              </a:rPr>
              <a:t>REF. 6  |  LITERATURA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56132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500" b="1" i="0">
                <a:solidFill>
                  <a:srgbClr val="121418"/>
                </a:solidFill>
                <a:latin typeface="Arial"/>
              </a:rPr>
              <a:t>Raspberry Pi enables entrance monitoring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53312"/>
            <a:ext cx="1005840" cy="54864"/>
          </a:xfrm>
          <a:prstGeom prst="rect">
            <a:avLst/>
          </a:prstGeom>
          <a:solidFill>
            <a:srgbClr val="3D8DFF"/>
          </a:solidFill>
          <a:ln w="8890">
            <a:solidFill>
              <a:srgbClr val="3D8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18520" y="320040"/>
            <a:ext cx="5029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100" b="1" i="0">
                <a:solidFill>
                  <a:srgbClr val="5C636E"/>
                </a:solidFill>
                <a:latin typeface="Arial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664208"/>
            <a:ext cx="4800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3D8DFF"/>
                </a:solidFill>
                <a:latin typeface="Arial"/>
              </a:rPr>
              <a:t>APPROACH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993392"/>
            <a:ext cx="4800600" cy="15361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121418"/>
                </a:solidFill>
                <a:latin typeface="Arial"/>
              </a:defRPr>
            </a:pPr>
            <a:r>
              <a:t>Low-cost Raspberry Pi video system at the hive entrance.</a:t>
            </a:r>
          </a:p>
          <a:p>
            <a:pPr>
              <a:spcAft>
                <a:spcPts val="800"/>
              </a:spcAft>
              <a:defRPr sz="1700" b="0">
                <a:solidFill>
                  <a:srgbClr val="121418"/>
                </a:solidFill>
                <a:latin typeface="Arial"/>
              </a:defRPr>
            </a:pPr>
            <a:r>
              <a:t>Background subtraction for segmentation.</a:t>
            </a:r>
          </a:p>
          <a:p>
            <a:pPr>
              <a:spcAft>
                <a:spcPts val="800"/>
              </a:spcAft>
              <a:defRPr sz="1700" b="0">
                <a:solidFill>
                  <a:srgbClr val="121418"/>
                </a:solidFill>
                <a:latin typeface="Arial"/>
              </a:defRPr>
            </a:pPr>
            <a:r>
              <a:t>Counts bees, identifies position and measures in/out activity.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767328"/>
            <a:ext cx="4800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3D8DFF"/>
                </a:solidFill>
                <a:latin typeface="Arial"/>
              </a:rPr>
              <a:t>QUALITATIVE TAKEAWAY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4096512"/>
            <a:ext cx="4800600" cy="9875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0" i="0">
                <a:solidFill>
                  <a:srgbClr val="121418"/>
                </a:solidFill>
                <a:latin typeface="Arial"/>
              </a:rPr>
              <a:t>Tu et al. show that entrance behavior can be estimated with a lightweight embedded platform, using manual counts as the reference for evaluation.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06440" y="1664208"/>
            <a:ext cx="5715000" cy="4407408"/>
          </a:xfrm>
          <a:prstGeom prst="rect">
            <a:avLst/>
          </a:prstGeom>
          <a:solidFill>
            <a:srgbClr val="EDEDED"/>
          </a:solidFill>
          <a:ln w="8890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44768" y="1956816"/>
            <a:ext cx="50292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3D8DFF"/>
                </a:solidFill>
                <a:latin typeface="Arial"/>
              </a:rPr>
              <a:t>QUANTITATIVE EVIDENCE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44768" y="2395728"/>
            <a:ext cx="2267712" cy="804672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91072" y="2505456"/>
            <a:ext cx="1975104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3D8DFF"/>
                </a:solidFill>
                <a:latin typeface="Arial"/>
              </a:rPr>
              <a:t>0.987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91072" y="2962656"/>
            <a:ext cx="1975104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121418"/>
                </a:solidFill>
                <a:latin typeface="Arial"/>
              </a:rPr>
              <a:t>R²: bee count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2395728"/>
            <a:ext cx="2267712" cy="804672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33104" y="2505456"/>
            <a:ext cx="1975104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3D8DFF"/>
                </a:solidFill>
                <a:latin typeface="Arial"/>
              </a:rPr>
              <a:t>0.953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33104" y="2962656"/>
            <a:ext cx="1975104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121418"/>
                </a:solidFill>
                <a:latin typeface="Arial"/>
              </a:rPr>
              <a:t>R²: in-activity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44768" y="3383280"/>
            <a:ext cx="2267712" cy="804672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91072" y="3493008"/>
            <a:ext cx="1975104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3D8DFF"/>
                </a:solidFill>
                <a:latin typeface="Arial"/>
              </a:rPr>
              <a:t>0.888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1072" y="3950208"/>
            <a:ext cx="1975104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121418"/>
                </a:solidFill>
                <a:latin typeface="Arial"/>
              </a:rPr>
              <a:t>R²: out-activity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86800" y="3383280"/>
            <a:ext cx="2267712" cy="804672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33104" y="3493008"/>
            <a:ext cx="1975104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3D8DFF"/>
                </a:solidFill>
                <a:latin typeface="Arial"/>
              </a:rPr>
              <a:t>Real-time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33104" y="3950208"/>
            <a:ext cx="1975104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121418"/>
                </a:solidFill>
                <a:latin typeface="Arial"/>
              </a:rPr>
              <a:t>processing viable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44768" y="4608576"/>
            <a:ext cx="48006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3D8DFF"/>
                </a:solidFill>
                <a:latin typeface="Arial"/>
              </a:rPr>
              <a:t>PROJECT IMPLICATION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44768" y="4919472"/>
            <a:ext cx="4773168" cy="8412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0" i="0">
                <a:solidFill>
                  <a:srgbClr val="121418"/>
                </a:solidFill>
                <a:latin typeface="Arial"/>
              </a:rPr>
              <a:t>Supports low-cost entrance imaging and objective validation. The method must be retested under our camera position, lighting and entrance geometry.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6473952"/>
            <a:ext cx="10881360" cy="10972"/>
          </a:xfrm>
          <a:prstGeom prst="rect">
            <a:avLst/>
          </a:prstGeom>
          <a:solidFill>
            <a:srgbClr val="B8BCC4"/>
          </a:solidFill>
          <a:ln w="8890">
            <a:solidFill>
              <a:srgbClr val="B8B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" y="6528816"/>
            <a:ext cx="102412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5C636E"/>
                </a:solidFill>
                <a:latin typeface="Arial"/>
              </a:rPr>
              <a:t>Fontes: Tu et al. (2016), Computers and Electronics in Agriculture, DOI 10.1016/j.compag.2016.01.011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18520" y="6528816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0" i="0">
                <a:solidFill>
                  <a:srgbClr val="5C636E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0040"/>
            <a:ext cx="43891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5C636E"/>
                </a:solidFill>
                <a:latin typeface="Arial"/>
              </a:rPr>
              <a:t>SYNTHESIS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56132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500" b="1" i="0">
                <a:solidFill>
                  <a:srgbClr val="121418"/>
                </a:solidFill>
                <a:latin typeface="Arial"/>
              </a:rPr>
              <a:t>Six studies point to one practical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53312"/>
            <a:ext cx="1005840" cy="54864"/>
          </a:xfrm>
          <a:prstGeom prst="rect">
            <a:avLst/>
          </a:prstGeom>
          <a:solidFill>
            <a:srgbClr val="3D8DFF"/>
          </a:solidFill>
          <a:ln w="8890">
            <a:solidFill>
              <a:srgbClr val="3D8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18520" y="320040"/>
            <a:ext cx="5029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100" b="1" i="0">
                <a:solidFill>
                  <a:srgbClr val="5C636E"/>
                </a:solidFill>
                <a:latin typeface="Arial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627632"/>
            <a:ext cx="32004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3D8DFF"/>
                </a:solidFill>
                <a:latin typeface="Arial"/>
              </a:rPr>
              <a:t>WHAT THE LITERATURE SUPPORTS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993392"/>
            <a:ext cx="3246120" cy="2011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121418"/>
                </a:solidFill>
                <a:latin typeface="Arial"/>
              </a:defRPr>
            </a:pPr>
            <a:r>
              <a:t>Environmental sensing inside and outside the hive.</a:t>
            </a:r>
          </a:p>
          <a:p>
            <a:pPr>
              <a:spcAft>
                <a:spcPts val="1200"/>
              </a:spcAft>
              <a:defRPr sz="1800" b="0">
                <a:solidFill>
                  <a:srgbClr val="121418"/>
                </a:solidFill>
                <a:latin typeface="Arial"/>
              </a:defRPr>
            </a:pPr>
            <a:r>
              <a:t>Entrance-focused vision with lightweight processing.</a:t>
            </a:r>
          </a:p>
          <a:p>
            <a:pPr>
              <a:spcAft>
                <a:spcPts val="1200"/>
              </a:spcAft>
              <a:defRPr sz="1800" b="0">
                <a:solidFill>
                  <a:srgbClr val="121418"/>
                </a:solidFill>
                <a:latin typeface="Arial"/>
              </a:defRPr>
            </a:pPr>
            <a:r>
              <a:t>Wireless transport, remote storage and visualization.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43984" y="1627632"/>
            <a:ext cx="32004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3D8DFF"/>
                </a:solidFill>
                <a:latin typeface="Arial"/>
              </a:rPr>
              <a:t>WHAT REMAINS OPEN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984" y="1993392"/>
            <a:ext cx="3246120" cy="2011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121418"/>
                </a:solidFill>
                <a:latin typeface="Arial"/>
              </a:defRPr>
            </a:pPr>
            <a:r>
              <a:t>No universal thresholds for colony state.</a:t>
            </a:r>
          </a:p>
          <a:p>
            <a:pPr>
              <a:spcAft>
                <a:spcPts val="1200"/>
              </a:spcAft>
              <a:defRPr sz="1800" b="0">
                <a:solidFill>
                  <a:srgbClr val="121418"/>
                </a:solidFill>
                <a:latin typeface="Arial"/>
              </a:defRPr>
            </a:pPr>
            <a:r>
              <a:t>Acoustic metrics and datasets are inconsistent.</a:t>
            </a:r>
          </a:p>
          <a:p>
            <a:pPr>
              <a:spcAft>
                <a:spcPts val="1200"/>
              </a:spcAft>
              <a:defRPr sz="1800" b="0">
                <a:solidFill>
                  <a:srgbClr val="121418"/>
                </a:solidFill>
                <a:latin typeface="Arial"/>
              </a:defRPr>
            </a:pPr>
            <a:r>
              <a:t>Varroa and event detection need field validation.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1627632"/>
            <a:ext cx="32004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3D8DFF"/>
                </a:solidFill>
                <a:latin typeface="Arial"/>
              </a:rPr>
              <a:t>OUR INITIAL SCOPE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1993392"/>
            <a:ext cx="3246120" cy="2011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121418"/>
                </a:solidFill>
                <a:latin typeface="Arial"/>
              </a:defRPr>
            </a:pPr>
            <a:r>
              <a:t>DHT11 + ESP32-CAM + wireless controller.</a:t>
            </a:r>
          </a:p>
          <a:p>
            <a:pPr>
              <a:spcAft>
                <a:spcPts val="1200"/>
              </a:spcAft>
              <a:defRPr sz="1800" b="0">
                <a:solidFill>
                  <a:srgbClr val="121418"/>
                </a:solidFill>
                <a:latin typeface="Arial"/>
              </a:defRPr>
            </a:pPr>
            <a:r>
              <a:t>Timestamped environmental and image data.</a:t>
            </a:r>
          </a:p>
          <a:p>
            <a:pPr>
              <a:spcAft>
                <a:spcPts val="1200"/>
              </a:spcAft>
              <a:defRPr sz="1800" b="0">
                <a:solidFill>
                  <a:srgbClr val="121418"/>
                </a:solidFill>
                <a:latin typeface="Arial"/>
              </a:defRPr>
            </a:pPr>
            <a:r>
              <a:t>Audio/vibration as experimental extensions.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4572000"/>
            <a:ext cx="10844784" cy="1005840"/>
          </a:xfrm>
          <a:prstGeom prst="rect">
            <a:avLst/>
          </a:prstGeom>
          <a:solidFill>
            <a:srgbClr val="E1F4FC"/>
          </a:solidFill>
          <a:ln w="8890">
            <a:solidFill>
              <a:srgbClr val="E1F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800600"/>
            <a:ext cx="10332720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400" b="1" i="0">
                <a:solidFill>
                  <a:srgbClr val="121418"/>
                </a:solidFill>
                <a:latin typeface="Arial"/>
              </a:rPr>
              <a:t>Takeaway: the contribution is not a single sensor or model; it is a validated multimodal data pipeline for non-invasive hive monitoring.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6473952"/>
            <a:ext cx="10881360" cy="10972"/>
          </a:xfrm>
          <a:prstGeom prst="rect">
            <a:avLst/>
          </a:prstGeom>
          <a:solidFill>
            <a:srgbClr val="B8BCC4"/>
          </a:solidFill>
          <a:ln w="8890">
            <a:solidFill>
              <a:srgbClr val="B8B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6528816"/>
            <a:ext cx="102412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5C636E"/>
                </a:solidFill>
                <a:latin typeface="Arial"/>
              </a:rPr>
              <a:t>Fontes: [1]--[6], as listed in references.bib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18520" y="6528816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0" i="0">
                <a:solidFill>
                  <a:srgbClr val="5C636E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0040"/>
            <a:ext cx="43891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5C636E"/>
                </a:solidFill>
                <a:latin typeface="Arial"/>
              </a:rPr>
              <a:t>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56132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500" b="1" i="0">
                <a:solidFill>
                  <a:srgbClr val="121418"/>
                </a:solidFill>
                <a:latin typeface="Arial"/>
              </a:rPr>
              <a:t>References used in the AC4 presentation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53312"/>
            <a:ext cx="1005840" cy="54864"/>
          </a:xfrm>
          <a:prstGeom prst="rect">
            <a:avLst/>
          </a:prstGeom>
          <a:solidFill>
            <a:srgbClr val="3D8DFF"/>
          </a:solidFill>
          <a:ln w="8890">
            <a:solidFill>
              <a:srgbClr val="3D8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18520" y="320040"/>
            <a:ext cx="5029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100" b="1" i="0">
                <a:solidFill>
                  <a:srgbClr val="5C636E"/>
                </a:solidFill>
                <a:latin typeface="Arial"/>
              </a:rP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719072"/>
            <a:ext cx="54864" cy="329184"/>
          </a:xfrm>
          <a:prstGeom prst="rect">
            <a:avLst/>
          </a:prstGeom>
          <a:solidFill>
            <a:srgbClr val="3D8DFF"/>
          </a:solidFill>
          <a:ln w="8890">
            <a:solidFill>
              <a:srgbClr val="3D8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1691640"/>
            <a:ext cx="1056132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0" i="0">
                <a:solidFill>
                  <a:srgbClr val="121418"/>
                </a:solidFill>
                <a:latin typeface="Arial"/>
              </a:rPr>
              <a:t>[1] Zheng et al. (2024). Intelligent beehive monitoring system based on IoT and colony state analysis. DOI: 10.1016/j.atech.2024.100584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432303"/>
            <a:ext cx="54864" cy="329184"/>
          </a:xfrm>
          <a:prstGeom prst="rect">
            <a:avLst/>
          </a:prstGeom>
          <a:solidFill>
            <a:srgbClr val="3D8DFF"/>
          </a:solidFill>
          <a:ln w="8890">
            <a:solidFill>
              <a:srgbClr val="3D8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404872"/>
            <a:ext cx="1056132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0" i="0">
                <a:solidFill>
                  <a:srgbClr val="121418"/>
                </a:solidFill>
                <a:latin typeface="Arial"/>
              </a:rPr>
              <a:t>[2] Narcia-Macias et al. (2024). IntelliBeeHive: automated honey bee, pollen and Varroa monitoring. DOI: 10.1109/ICMLA61862.2024.00122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3145536"/>
            <a:ext cx="54864" cy="329184"/>
          </a:xfrm>
          <a:prstGeom prst="rect">
            <a:avLst/>
          </a:prstGeom>
          <a:solidFill>
            <a:srgbClr val="3D8DFF"/>
          </a:solidFill>
          <a:ln w="8890">
            <a:solidFill>
              <a:srgbClr val="3D8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3118104"/>
            <a:ext cx="1056132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0" i="0">
                <a:solidFill>
                  <a:srgbClr val="121418"/>
                </a:solidFill>
                <a:latin typeface="Arial"/>
              </a:rPr>
              <a:t>[3] Uthoff et al. (2023). Acoustic and vibration monitoring of honeybee colonies. DOI: 10.1016/j.compag.2022.107589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3858768"/>
            <a:ext cx="54864" cy="329184"/>
          </a:xfrm>
          <a:prstGeom prst="rect">
            <a:avLst/>
          </a:prstGeom>
          <a:solidFill>
            <a:srgbClr val="3D8DFF"/>
          </a:solidFill>
          <a:ln w="8890">
            <a:solidFill>
              <a:srgbClr val="3D8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3831335"/>
            <a:ext cx="1056132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0" i="0">
                <a:solidFill>
                  <a:srgbClr val="121418"/>
                </a:solidFill>
                <a:latin typeface="Arial"/>
              </a:rPr>
              <a:t>[4] Tashakkori, Hamza &amp; Crawford (2021). Beemon: an IoT-based beehive monitoring system. DOI: 10.1016/j.compag.2021.106427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4572000"/>
            <a:ext cx="54864" cy="329184"/>
          </a:xfrm>
          <a:prstGeom prst="rect">
            <a:avLst/>
          </a:prstGeom>
          <a:solidFill>
            <a:srgbClr val="3D8DFF"/>
          </a:solidFill>
          <a:ln w="8890">
            <a:solidFill>
              <a:srgbClr val="3D8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7824" y="4544568"/>
            <a:ext cx="1056132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0" i="0">
                <a:solidFill>
                  <a:srgbClr val="121418"/>
                </a:solidFill>
                <a:latin typeface="Arial"/>
              </a:rPr>
              <a:t>[5] Henry et al. (2019). Precision apiculture: wireless sensor network for honeybee hives. DOI: 10.1016/j.compag.2018.11.001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5285232"/>
            <a:ext cx="54864" cy="329184"/>
          </a:xfrm>
          <a:prstGeom prst="rect">
            <a:avLst/>
          </a:prstGeom>
          <a:solidFill>
            <a:srgbClr val="3D8DFF"/>
          </a:solidFill>
          <a:ln w="8890">
            <a:solidFill>
              <a:srgbClr val="3D8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7824" y="5257800"/>
            <a:ext cx="1056132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0" i="0">
                <a:solidFill>
                  <a:srgbClr val="121418"/>
                </a:solidFill>
                <a:latin typeface="Arial"/>
              </a:rPr>
              <a:t>[6] Tu et al. (2016). Automatic behaviour analysis system for honeybees using computer vision. DOI: 10.1016/j.compag.2016.01.011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199632"/>
            <a:ext cx="80467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5C636E"/>
                </a:solidFill>
                <a:latin typeface="Arial"/>
              </a:rPr>
              <a:t>Use the article's references.bib for the complete BibTeX records.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6473952"/>
            <a:ext cx="10881360" cy="10972"/>
          </a:xfrm>
          <a:prstGeom prst="rect">
            <a:avLst/>
          </a:prstGeom>
          <a:solidFill>
            <a:srgbClr val="B8BCC4"/>
          </a:solidFill>
          <a:ln w="8890">
            <a:solidFill>
              <a:srgbClr val="B8B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6528816"/>
            <a:ext cx="102412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5C636E"/>
                </a:solidFill>
                <a:latin typeface="Arial"/>
              </a:rPr>
              <a:t>Fontes: Publisher records, DOI pages and the open arXiv preprint listed above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18520" y="6528816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0" i="0">
                <a:solidFill>
                  <a:srgbClr val="5C636E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