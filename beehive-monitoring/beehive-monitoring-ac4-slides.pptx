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5C636E"/>
                </a:solidFill>
                <a:latin typeface="Arial"/>
              </a:rPr>
              <a:t>IBM3118  |  AC4  |  SBrT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097280" cy="73152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45920"/>
            <a:ext cx="7863840" cy="1508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000" b="1" i="0">
                <a:solidFill>
                  <a:srgbClr val="121418"/>
                </a:solidFill>
                <a:latin typeface="Arial"/>
              </a:rPr>
              <a:t>Monitoramento de Colmeias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57600"/>
            <a:ext cx="713232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0" i="0">
                <a:solidFill>
                  <a:srgbClr val="5C636E"/>
                </a:solidFill>
                <a:latin typeface="Arial"/>
              </a:rPr>
              <a:t>Seis referências que orientam um sistema de baixo custo e não invasivo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508760"/>
            <a:ext cx="3291840" cy="3291840"/>
          </a:xfrm>
          <a:prstGeom prst="rect">
            <a:avLst/>
          </a:prstGeom>
          <a:solidFill>
            <a:srgbClr val="E1F4FC"/>
          </a:solidFill>
          <a:ln w="8890">
            <a:solidFill>
              <a:srgbClr val="E1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41080" y="2011680"/>
            <a:ext cx="2286000" cy="10515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2258568"/>
            <a:ext cx="2011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3D8DFF"/>
                </a:solidFill>
                <a:latin typeface="Arial"/>
              </a:rPr>
              <a:t>AMBIENTE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3337560"/>
            <a:ext cx="2286000" cy="10515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3584448"/>
            <a:ext cx="2011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3D8DFF"/>
                </a:solidFill>
                <a:latin typeface="Arial"/>
              </a:rPr>
              <a:t>ENTRADA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1080" y="4663440"/>
            <a:ext cx="2286000" cy="10515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4910328"/>
            <a:ext cx="2011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3D8DFF"/>
                </a:solidFill>
                <a:latin typeface="Arial"/>
              </a:rPr>
              <a:t>ACÚSTICA + IoT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199632"/>
            <a:ext cx="4937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5C636E"/>
                </a:solidFill>
                <a:latin typeface="Arial"/>
              </a:rPr>
              <a:t>Igor Costa  ·  Jorge Alves  ·  Ian Dias  ·  Davi 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AC4  |  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Monitorar a colmeia exige várias variáveis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104241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1418"/>
                </a:solidFill>
                <a:latin typeface="Arial"/>
              </a:rPr>
              <a:t>A literatura sustenta uma visão multimodal da colônia.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487168"/>
            <a:ext cx="3337560" cy="2514600"/>
          </a:xfrm>
          <a:prstGeom prst="rect">
            <a:avLst/>
          </a:prstGeom>
          <a:solidFill>
            <a:srgbClr val="E1F4FC"/>
          </a:solidFill>
          <a:ln w="8890">
            <a:solidFill>
              <a:srgbClr val="E1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3D8DFF"/>
                </a:solidFill>
                <a:latin typeface="Arial"/>
              </a:rPr>
              <a:t>01  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269748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Inspeções manuais são pontuais e podem perturbar a colônia ao abrir a colmeia.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43984" y="2487168"/>
            <a:ext cx="3337560" cy="2514600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0016" y="277977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3D8DFF"/>
                </a:solidFill>
                <a:latin typeface="Arial"/>
              </a:rPr>
              <a:t>02  PIPELINE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3246120"/>
            <a:ext cx="269748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Sistemas IoT conectam sensores, áudio/vídeo, comunicação sem fio e armazenamento remoto.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487168"/>
            <a:ext cx="3291840" cy="2514600"/>
          </a:xfrm>
          <a:prstGeom prst="rect">
            <a:avLst/>
          </a:prstGeom>
          <a:solidFill>
            <a:srgbClr val="FFF8DC"/>
          </a:solidFill>
          <a:ln w="8890">
            <a:solidFill>
              <a:srgbClr val="FFF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85632" y="277977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3D8DFF"/>
                </a:solidFill>
                <a:latin typeface="Arial"/>
              </a:rPr>
              <a:t>03  LACUNA DE PESQUISA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5632" y="3246120"/>
            <a:ext cx="265176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Sinais promissores, mas limiares, métricas e validação entre colônias não são padronizados.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486400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5C636E"/>
                </a:solidFill>
                <a:latin typeface="Arial"/>
              </a:rPr>
              <a:t>Direção do projeto: combinar medições do DHT11, imagens da entrada e coleta sem fio; tratar áudio, vibração e detecção de eventos como extensões dependentes de validação.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[1]--[6], conforme listadas no references.bib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REF. 1  |  LITERATURA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Zheng: ambiente e atividade da colmeia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6420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ABORDAGEM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4800600" cy="15361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Temperatura e umidade no centro, margem, entrada e ambiente externo.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Sensor de som interno e webcam voltada para a entrada.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YOLOv5 + DeepSORT para rastrear várias abelhas.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6732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SÍNTESE QUALITATIVA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096512"/>
            <a:ext cx="48006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Exemplo forte de monitoramento IoT multimodal: medidas ambientais são interpretadas junto à atividade na entrada e ao som interno.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664208"/>
            <a:ext cx="5715000" cy="4407408"/>
          </a:xfrm>
          <a:prstGeom prst="rect">
            <a:avLst/>
          </a:prstGeom>
          <a:solidFill>
            <a:srgbClr val="E1F4FC"/>
          </a:solidFill>
          <a:ln w="8890">
            <a:solidFill>
              <a:srgbClr val="E1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1956816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EVIDÊNCIAS QUANTITATIVAS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83,5 ± 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MOTA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77,3 ± 0,2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MOTP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16 fps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taxa máxima relatada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3104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25–37 °C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faixa de temperatura central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4608576"/>
            <a:ext cx="4800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IMPLICAÇÃO PARA 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4919472"/>
            <a:ext cx="4773168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21418"/>
                </a:solidFill>
                <a:latin typeface="Arial"/>
              </a:rPr>
              <a:t>Sustenta a distribuição dos sensores, a câmera na entrada e a arquitetura multimodal. As faixas ambientais vêm de um estudo e não são limiares universais.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Zheng et al. (2024), Smart Agricultural Technology, DOI 10.1016/j.atech.2024.100584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REF. 2  |  LITERATURA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IntelliBeeHive: visão de baixo custo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6420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ABORDAGEM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4800600" cy="15361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Câmera voltada para a entrada e monitoramento remoto.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Modelos YOLOv7-tiny para abelhas, pólen e ácaros.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Projetado para observação de baixo custo em tempo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6732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SÍNTESE QUALITATIVA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096512"/>
            <a:ext cx="48006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O artigo mostra que a visão computacional leve pode monitorar a entrada sem perturbar a colônia, mas o resultado de Varroa deve permanecer como prova de conceito.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664208"/>
            <a:ext cx="5715000" cy="4407408"/>
          </a:xfrm>
          <a:prstGeom prst="rect">
            <a:avLst/>
          </a:prstGeom>
          <a:solidFill>
            <a:srgbClr val="FFECEC"/>
          </a:solidFill>
          <a:ln w="8890">
            <a:solidFill>
              <a:srgbClr val="FF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1956816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EVIDÊNCIAS QUANTITATIVAS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96,28%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acurácia do rastreamento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0,8319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F1 do pólen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YOLOv7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variante tiny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3104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Limitados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dados de ácaros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4608576"/>
            <a:ext cx="4800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IMPLICAÇÃO PARA 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4919472"/>
            <a:ext cx="4773168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21418"/>
                </a:solidFill>
                <a:latin typeface="Arial"/>
              </a:rPr>
              <a:t>Sustenta o uso do ESP32-CAM e de modelos leves. Pólen e Varroa exigem dados rotulados e representativos antes de serem saídas confiáveis.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Narcia-Macias et al. (2024), ICMLA, DOI 10.1109/ICMLA61862.2024.00122; open preprint: arXiv:2309.08955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REF. 3  |  LITERATURA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Acústica: faltam métricas padrão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6420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ABORDAGEM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4800600" cy="15361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Revisão de microfones e acelerômetros aplicados à apicultura.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Foco na presença da rainha e em estados ligados à enxameação.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Sinais coletados sem abrir a colmeia.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6732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SÍNTESE QUALITATIVA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096512"/>
            <a:ext cx="48006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A revisão apoia o monitoramento acústico e vibracional como modalidade complementar e não invasiva, mas destaca a dificuldade de comparar resultados entre colônias e estudos.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664208"/>
            <a:ext cx="5715000" cy="4407408"/>
          </a:xfrm>
          <a:prstGeom prst="rect">
            <a:avLst/>
          </a:prstGeom>
          <a:solidFill>
            <a:srgbClr val="FFF8DC"/>
          </a:solidFill>
          <a:ln w="8890">
            <a:solidFill>
              <a:srgbClr val="FFF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1956816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EVIDÊNCIAS QUANTITATIVAS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pontuação agregada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Pequenos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conjuntos de dados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Não há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métricas comuns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3104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Baixa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generalização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4608576"/>
            <a:ext cx="4800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IMPLICAÇÃO PARA 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4919472"/>
            <a:ext cx="4773168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21418"/>
                </a:solidFill>
                <a:latin typeface="Arial"/>
              </a:rPr>
              <a:t>Preservar o contexto do sinal e documentar as características. O KY-038 é apenas um indicador de ruído; gravações confiáveis exigem microfone adequado.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Uthoff et al. (2023), Computers and Electronics in Agriculture, DOI 10.1016/j.compag.2022.107589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REF. 4  |  LITERATURA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Beemon: pipeline remoto de monitoramento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6420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ABORDAGEM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4800600" cy="15361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Captura de temperatura, umidade, peso, áudio e vídeo.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MQTT para ThingsBoard e armazenamento em servidor remoto.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Operação contínua em apiário externo.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6732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SÍNTESE QUALITATIVA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096512"/>
            <a:ext cx="48006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O Beemon prioriza aquisição confiável e acesso remoto aos dados. Sua contribuição é a infraestrutura ponta a ponta, não um classificador de saúde da colônia plenamente validado.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664208"/>
            <a:ext cx="5715000" cy="4407408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1956816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EVIDÊNCIAS QUANTITATIVAS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44,1 kHz+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capacidade de áudio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Quase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tempo de coleta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Externa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operação contínua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3104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Limitados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resultados de campo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4608576"/>
            <a:ext cx="4800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IMPLICAÇÃO PARA 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4919472"/>
            <a:ext cx="4773168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21418"/>
                </a:solidFill>
                <a:latin typeface="Arial"/>
              </a:rPr>
              <a:t>Sustenta o uso de MQTT, registros com marca temporal, visualização remota e separação entre captura embarcada e análise mais pesada no servidor.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Tashakkori, Hamza &amp; Crawford (2021), Computers and Electronics in Agriculture, DOI 10.1016/j.compag.2021.106427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REF. 5  |  LITERATURA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Sensoriamento sem fio monitora a colmeia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6420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ABORDAGEM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4800600" cy="15361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Rede sem fio para temperatura, umidade relativa e som dentro da colmeia.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Wi-Fi avaliado em ambiente de apiário.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Sinais interpretados em relação a estresse e enxameação.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6732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SÍNTESE QUALITATIVA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096512"/>
            <a:ext cx="48006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O estudo indica que a coleta sem fio é viável, mas alerta que efeitos de radiofrequência e dinâmica da colmeia exigem avaliação contínua.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664208"/>
            <a:ext cx="5715000" cy="4407408"/>
          </a:xfrm>
          <a:prstGeom prst="rect">
            <a:avLst/>
          </a:prstGeom>
          <a:solidFill>
            <a:srgbClr val="E1F4FC"/>
          </a:solidFill>
          <a:ln w="8890">
            <a:solidFill>
              <a:srgbClr val="E1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1956816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EVIDÊNCIAS QUANTITATIVAS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6 colmeias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escala do estudo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30 dias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período de observação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Nenhuma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alteração com Wi-Fi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3104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Tempo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potencial de monitoramento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4608576"/>
            <a:ext cx="4800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IMPLICAÇÃO PARA 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4919472"/>
            <a:ext cx="4773168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21418"/>
                </a:solidFill>
                <a:latin typeface="Arial"/>
              </a:rPr>
              <a:t>Sustenta o Wi-Fi como primeira opção de comunicação quando houver cobertura. A implantação ainda precisa testar alcance, consumo e estabilidade ambiental.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Henry et al. (2019), Computers and Electronics in Agriculture, DOI 10.1016/j.compag.2018.11.001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REF. 6  |  LITERATURA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Raspberry Pi monitora a entrada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6420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ABORDAGEM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4800600" cy="15361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Sistema de vídeo de baixo custo na entrada da colmeia.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Subtração de fundo para segmentação.</a:t>
            </a:r>
          </a:p>
          <a:p>
            <a:pPr>
              <a:spcAft>
                <a:spcPts val="800"/>
              </a:spcAft>
              <a:defRPr sz="1700" b="0">
                <a:solidFill>
                  <a:srgbClr val="121418"/>
                </a:solidFill>
                <a:latin typeface="Arial"/>
              </a:defRPr>
            </a:pPr>
            <a:r>
              <a:t>Conta abelhas, identifica posições e mede atividade de entrada e saída.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767328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SÍNTESE QUALITATIVA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096512"/>
            <a:ext cx="48006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121418"/>
                </a:solidFill>
                <a:latin typeface="Arial"/>
              </a:rPr>
              <a:t>Tu et al. mostram que o comportamento na entrada pode ser estimado com uma plataforma embarcada leve, usando contagens manuais como referência.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664208"/>
            <a:ext cx="5715000" cy="4407408"/>
          </a:xfrm>
          <a:prstGeom prst="rect">
            <a:avLst/>
          </a:prstGeom>
          <a:solidFill>
            <a:srgbClr val="EDEDED"/>
          </a:solidFill>
          <a:ln w="8890">
            <a:solidFill>
              <a:srgbClr val="EDED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1956816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EVIDÊNCIAS QUANTITATIVAS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0,987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R²: contagem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395728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2505456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0,953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962656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R²: atividade de entrada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0,888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R²: atividade de saída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3383280"/>
            <a:ext cx="2267712" cy="8046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3104" y="3493008"/>
            <a:ext cx="197510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3D8DFF"/>
                </a:solidFill>
                <a:latin typeface="Arial"/>
              </a:rPr>
              <a:t>Tempo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3950208"/>
            <a:ext cx="197510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21418"/>
                </a:solidFill>
                <a:latin typeface="Arial"/>
              </a:rPr>
              <a:t>processamento viável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4608576"/>
            <a:ext cx="4800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IMPLICAÇÃO PARA 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4919472"/>
            <a:ext cx="4773168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21418"/>
                </a:solidFill>
                <a:latin typeface="Arial"/>
              </a:rPr>
              <a:t>Sustenta imagens de baixo custo na entrada e validação objetiva. O método deve ser retestado com nossa posição de câmera, iluminação e geometria da entrada.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Tu et al. (2016), Computers and Electronics in Agriculture, DOI 10.1016/j.compag.2016.01.011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Seis estudos apontam uma arquitetura prática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3200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O QUE A LITERATURA SUSTENTA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324612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Sensoriamento ambiental dentro e fora da colmeia.</a:t>
            </a:r>
          </a:p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Visão focada na entrada com processamento leve.</a:t>
            </a:r>
          </a:p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Transporte sem fio, armazenamento e visualização remotos.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3984" y="1627632"/>
            <a:ext cx="3200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O QUE AINDA ESTÁ EM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984" y="1993392"/>
            <a:ext cx="324612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Não há limiares universais para o estado da colônia.</a:t>
            </a:r>
          </a:p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Métricas e dados acústicos são inconsistentes.</a:t>
            </a:r>
          </a:p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Varroa e eventos exigem validação em campo.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627632"/>
            <a:ext cx="3200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3D8DFF"/>
                </a:solidFill>
                <a:latin typeface="Arial"/>
              </a:rPr>
              <a:t>ESCOPO INICIAL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993392"/>
            <a:ext cx="324612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DHT11 + ESP32-CAM + controlador sem fio.</a:t>
            </a:r>
          </a:p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Dados ambientais e imagens com marca temporal.</a:t>
            </a:r>
          </a:p>
          <a:p>
            <a:pPr>
              <a:spcAft>
                <a:spcPts val="1200"/>
              </a:spcAft>
              <a:defRPr sz="1800" b="0">
                <a:solidFill>
                  <a:srgbClr val="121418"/>
                </a:solidFill>
                <a:latin typeface="Arial"/>
              </a:defRPr>
            </a:pPr>
            <a:r>
              <a:t>Áudio e vibração como extensões experimentais.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572000"/>
            <a:ext cx="10844784" cy="1005840"/>
          </a:xfrm>
          <a:prstGeom prst="rect">
            <a:avLst/>
          </a:prstGeom>
          <a:solidFill>
            <a:srgbClr val="E1F4FC"/>
          </a:solidFill>
          <a:ln w="8890">
            <a:solidFill>
              <a:srgbClr val="E1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400" b="1" i="0">
                <a:solidFill>
                  <a:srgbClr val="121418"/>
                </a:solidFill>
                <a:latin typeface="Arial"/>
              </a:rPr>
              <a:t>Conclusão: a contribuição é um pipeline multimodal validado para monitoramento não invasivo de colmeias — não apenas um sensor ou modelo.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[1]--[6], conforme listadas no references.bib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C636E"/>
                </a:solidFill>
                <a:latin typeface="Arial"/>
              </a:rPr>
              <a:t>FONTES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5613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121418"/>
                </a:solidFill>
                <a:latin typeface="Arial"/>
              </a:rPr>
              <a:t>Referências usadas na apresentação da AC4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05840" cy="5486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5C636E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19072"/>
            <a:ext cx="54864" cy="32918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691640"/>
            <a:ext cx="105613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121418"/>
                </a:solidFill>
                <a:latin typeface="Arial"/>
              </a:rPr>
              <a:t>[1] Zheng et al. (2024). Intelligent beehive monitoring system based on IoT and colony state analysis. DOI: 10.1016/j.atech.2024.100584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32303"/>
            <a:ext cx="54864" cy="32918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404872"/>
            <a:ext cx="105613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121418"/>
                </a:solidFill>
                <a:latin typeface="Arial"/>
              </a:rPr>
              <a:t>[2] Narcia-Macias et al. (2024). IntelliBeeHive: automated honey bee, pollen and Varroa monitoring. DOI: 10.1109/ICMLA61862.2024.00122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45536"/>
            <a:ext cx="54864" cy="32918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118104"/>
            <a:ext cx="105613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121418"/>
                </a:solidFill>
                <a:latin typeface="Arial"/>
              </a:rPr>
              <a:t>[3] Uthoff et al. (2023). Acoustic and vibration monitoring of honeybee colonies. DOI: 10.1016/j.compag.2022.107589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54864" cy="32918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831335"/>
            <a:ext cx="105613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121418"/>
                </a:solidFill>
                <a:latin typeface="Arial"/>
              </a:rPr>
              <a:t>[4] Tashakkori, Hamza &amp; Crawford (2021). Beemon: an IoT-based beehive monitoring system. DOI: 10.1016/j.compag.2021.106427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72000"/>
            <a:ext cx="54864" cy="32918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4544568"/>
            <a:ext cx="105613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121418"/>
                </a:solidFill>
                <a:latin typeface="Arial"/>
              </a:rPr>
              <a:t>[5] Henry et al. (2019). Precision apiculture: wireless sensor network for honeybee hives. DOI: 10.1016/j.compag.2018.11.001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4864" cy="329184"/>
          </a:xfrm>
          <a:prstGeom prst="rect">
            <a:avLst/>
          </a:prstGeom>
          <a:solidFill>
            <a:srgbClr val="3D8DFF"/>
          </a:solidFill>
          <a:ln w="8890">
            <a:solidFill>
              <a:srgbClr val="3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5257800"/>
            <a:ext cx="105613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121418"/>
                </a:solidFill>
                <a:latin typeface="Arial"/>
              </a:rPr>
              <a:t>[6] Tu et al. (2016). Automatic behaviour analysis system for honeybees using computer vision. DOI: 10.1016/j.compag.2016.01.011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199632"/>
            <a:ext cx="8046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5C636E"/>
                </a:solidFill>
                <a:latin typeface="Arial"/>
              </a:rPr>
              <a:t>Consulte o references.bib do artigo para os registros BibTeX completos.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473952"/>
            <a:ext cx="10881360" cy="10972"/>
          </a:xfrm>
          <a:prstGeom prst="rect">
            <a:avLst/>
          </a:prstGeom>
          <a:solidFill>
            <a:srgbClr val="B8BCC4"/>
          </a:solidFill>
          <a:ln w="8890">
            <a:solidFill>
              <a:srgbClr val="B8B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528816"/>
            <a:ext cx="10241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C636E"/>
                </a:solidFill>
                <a:latin typeface="Arial"/>
              </a:rPr>
              <a:t>Fontes: Registros dos editores, páginas DOI e o preprint aberto no arXiv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528816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C636E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