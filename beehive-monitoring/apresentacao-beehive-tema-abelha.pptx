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IBMEC BARRA  •  SISTEMAS EMBARCADOS  •  GRUPO 4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48640" y="1143000"/>
            <a:ext cx="5623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32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Monitoramento de Colmeias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66928" y="26974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08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Sistema Embarcado de Baixo Custo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66928" y="331012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de Literatura e Proposta do Projeto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365760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Seminário 1  •  Disciplina IBM3118 (2026.2)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66928" y="43708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EM DESENVOLVIMENTO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6928" y="4645152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não invasiva combinando sensores ambientais, visão computacional na entrada e telemetria IoT em nuvem.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6928" y="57424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 DO GRUPO 4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6928" y="60167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Igor Costa   •   Jorge Alves   •   Ian Dias   •   Davi Ito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DO PROJETO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515600" y="3474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09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32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Monitoramento de Colmeias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335024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não invasiva combinando sensores ambientais, visão computacional e telemetria IoT.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38528"/>
            <a:ext cx="5541264" cy="1956816"/>
          </a:xfrm>
          <a:prstGeom prst="roundRect">
            <a:avLst>
              <a:gd name="adj" fmla="val 3271"/>
            </a:avLst>
          </a:prstGeom>
          <a:solidFill>
            <a:srgbClr val="FFFFFF"/>
          </a:solidFill>
          <a:ln w="12700">
            <a:solidFill>
              <a:srgbClr val="E7DABB"/>
            </a:solidFill>
            <a:prstDash val="solid"/>
          </a:ln>
          <a:effectLst>
            <a:outerShdw sx="100000" sy="100000" kx="0" ky="0" algn="bl" rotWithShape="0" blurRad="88900" dist="25400" dir="5400000">
              <a:srgbClr val="CBB98D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231136"/>
            <a:ext cx="475488" cy="427939"/>
          </a:xfrm>
          <a:prstGeom prst="hexagon">
            <a:avLst/>
          </a:prstGeom>
          <a:solidFill>
            <a:srgbClr val="C0851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85416"/>
            <a:ext cx="658368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2157984"/>
            <a:ext cx="4352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MEDIÇÃO AMBIENTAL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08760" y="2395728"/>
            <a:ext cx="4352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2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Microclima do Ninho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2779776"/>
            <a:ext cx="426110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e umidade relativa (interior e exterior).</a:t>
            </a:r>
            <a:endParaRPr lang="en-US" sz="11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variações térmicas anômalas sem intervenção humana.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938528"/>
            <a:ext cx="5541264" cy="1956816"/>
          </a:xfrm>
          <a:prstGeom prst="roundRect">
            <a:avLst>
              <a:gd name="adj" fmla="val 3271"/>
            </a:avLst>
          </a:prstGeom>
          <a:solidFill>
            <a:srgbClr val="FFFFFF"/>
          </a:solidFill>
          <a:ln w="12700">
            <a:solidFill>
              <a:srgbClr val="E7DABB"/>
            </a:solidFill>
            <a:prstDash val="solid"/>
          </a:ln>
          <a:effectLst>
            <a:outerShdw sx="100000" sy="100000" kx="0" ky="0" algn="bl" rotWithShape="0" blurRad="88900" dist="25400" dir="5400000">
              <a:srgbClr val="CBB98D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0" y="2231136"/>
            <a:ext cx="475488" cy="427939"/>
          </a:xfrm>
          <a:prstGeom prst="hexagon">
            <a:avLst/>
          </a:prstGeom>
          <a:solidFill>
            <a:srgbClr val="C08514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185416"/>
            <a:ext cx="658368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269480" y="2157984"/>
            <a:ext cx="4352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COMPUTACIONAL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269480" y="2395728"/>
            <a:ext cx="4352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2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na Entrada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69480" y="2779776"/>
            <a:ext cx="426110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 voltada para a entrada da colmeia.</a:t>
            </a:r>
            <a:endParaRPr lang="en-US" sz="11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Contagem contínua de fluxo e modelos leves na borda (Edge AI).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5541264" cy="1956816"/>
          </a:xfrm>
          <a:prstGeom prst="roundRect">
            <a:avLst>
              <a:gd name="adj" fmla="val 3271"/>
            </a:avLst>
          </a:prstGeom>
          <a:solidFill>
            <a:srgbClr val="FFFFFF"/>
          </a:solidFill>
          <a:ln w="12700">
            <a:solidFill>
              <a:srgbClr val="E7DABB"/>
            </a:solidFill>
            <a:prstDash val="solid"/>
          </a:ln>
          <a:effectLst>
            <a:outerShdw sx="100000" sy="100000" kx="0" ky="0" algn="bl" rotWithShape="0" blurRad="88900" dist="25400" dir="5400000">
              <a:srgbClr val="CBB98D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4407408"/>
            <a:ext cx="475488" cy="427939"/>
          </a:xfrm>
          <a:prstGeom prst="hexagon">
            <a:avLst/>
          </a:prstGeom>
          <a:solidFill>
            <a:srgbClr val="C08514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361688"/>
            <a:ext cx="658368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4334256"/>
            <a:ext cx="4352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ACÚSTICOS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08760" y="4572000"/>
            <a:ext cx="4352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2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Vibroacústicos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8760" y="4956048"/>
            <a:ext cx="426110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Captação não invasiva de áudio e vibração interna.</a:t>
            </a:r>
            <a:endParaRPr lang="en-US" sz="11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Investigação de padrões de enxameação e presença da rainha.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4114800"/>
            <a:ext cx="5541264" cy="1956816"/>
          </a:xfrm>
          <a:prstGeom prst="roundRect">
            <a:avLst>
              <a:gd name="adj" fmla="val 3271"/>
            </a:avLst>
          </a:prstGeom>
          <a:solidFill>
            <a:srgbClr val="FFFFFF"/>
          </a:solidFill>
          <a:ln w="12700">
            <a:solidFill>
              <a:srgbClr val="E7DABB"/>
            </a:solidFill>
            <a:prstDash val="solid"/>
          </a:ln>
          <a:effectLst>
            <a:outerShdw sx="100000" sy="100000" kx="0" ky="0" algn="bl" rotWithShape="0" blurRad="88900" dist="25400" dir="5400000">
              <a:srgbClr val="CBB98D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0" y="4407408"/>
            <a:ext cx="475488" cy="427939"/>
          </a:xfrm>
          <a:prstGeom prst="hexagon">
            <a:avLst/>
          </a:prstGeom>
          <a:solidFill>
            <a:srgbClr val="C08514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4361688"/>
            <a:ext cx="658368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69480" y="4334256"/>
            <a:ext cx="4352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TELEMETRIA &amp; IOT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69480" y="4572000"/>
            <a:ext cx="4352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2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em Tempo Real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269480" y="4956048"/>
            <a:ext cx="426110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Transmissão eficiente via protocolo leve MQTT.</a:t>
            </a:r>
            <a:endParaRPr lang="en-US" sz="11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interativo com histórico unificado e data/hora.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6419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4  •  IBMEC BARRA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89120" y="6419088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tecnológica: Sistemas Embarcados &amp; Internet das Coisas (IoT)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1 DE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515600" y="3474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09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2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Zheng et al.  •  2024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35024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multimodais e câmera para rastreamento de atividade da colmeia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989320" cy="2761488"/>
          </a:xfrm>
          <a:prstGeom prst="roundRect">
            <a:avLst>
              <a:gd name="adj" fmla="val 2318"/>
            </a:avLst>
          </a:prstGeom>
          <a:solidFill>
            <a:srgbClr val="FFFFFF"/>
          </a:solidFill>
          <a:ln w="12700">
            <a:solidFill>
              <a:srgbClr val="E7DABB"/>
            </a:solidFill>
            <a:prstDash val="solid"/>
          </a:ln>
          <a:effectLst>
            <a:outerShdw sx="100000" sy="100000" kx="0" ky="0" algn="bl" rotWithShape="0" blurRad="88900" dist="25400" dir="5400000">
              <a:srgbClr val="CBB98D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249424"/>
            <a:ext cx="146304" cy="131674"/>
          </a:xfrm>
          <a:prstGeom prst="hexagon">
            <a:avLst/>
          </a:prstGeom>
          <a:solidFill>
            <a:srgbClr val="C08514"/>
          </a:solidFill>
          <a:ln/>
        </p:spPr>
      </p:sp>
      <p:sp>
        <p:nvSpPr>
          <p:cNvPr id="8" name="Text 6"/>
          <p:cNvSpPr/>
          <p:nvPr/>
        </p:nvSpPr>
        <p:spPr>
          <a:xfrm>
            <a:off x="1069848" y="2167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&amp; IMPLEMENTAÇÃO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" y="2578608"/>
            <a:ext cx="544068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de temperatura e umidade distribuídos (centro, margem, entrada e externo).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 som interno e webcam posicionada na entrada da colmeia.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YOLOv5 + DeepSORT para detecção e rastreamento de múltiplas abelhas.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12280" y="1920240"/>
            <a:ext cx="4828032" cy="2761488"/>
          </a:xfrm>
          <a:prstGeom prst="roundRect">
            <a:avLst>
              <a:gd name="adj" fmla="val 2318"/>
            </a:avLst>
          </a:prstGeom>
          <a:solidFill>
            <a:srgbClr val="FFFFFF"/>
          </a:solidFill>
          <a:ln w="12700">
            <a:solidFill>
              <a:srgbClr val="E7DABB"/>
            </a:solidFill>
            <a:prstDash val="solid"/>
          </a:ln>
          <a:effectLst>
            <a:outerShdw sx="100000" sy="100000" kx="0" ky="0" algn="bl" rotWithShape="0" blurRad="88900" dist="25400" dir="5400000">
              <a:srgbClr val="CBB98D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86600" y="2249424"/>
            <a:ext cx="146304" cy="131674"/>
          </a:xfrm>
          <a:prstGeom prst="hexagon">
            <a:avLst/>
          </a:prstGeom>
          <a:solidFill>
            <a:srgbClr val="C08514"/>
          </a:solidFill>
          <a:ln/>
        </p:spPr>
      </p:sp>
      <p:sp>
        <p:nvSpPr>
          <p:cNvPr id="12" name="Text 10"/>
          <p:cNvSpPr/>
          <p:nvPr/>
        </p:nvSpPr>
        <p:spPr>
          <a:xfrm>
            <a:off x="7333488" y="2167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DESTAQUE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04888" y="256032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08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83,5% MOTA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7104888" y="3054096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de rastreamento de múltiplos objetos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104888" y="35661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8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77,3% MOTP  •  16 FPS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104888" y="40233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de localização e velocidade de inferência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4E7C7"/>
          </a:solidFill>
          <a:ln/>
        </p:spPr>
      </p:sp>
      <p:sp>
        <p:nvSpPr>
          <p:cNvPr id="18" name="Shape 16"/>
          <p:cNvSpPr/>
          <p:nvPr/>
        </p:nvSpPr>
        <p:spPr>
          <a:xfrm>
            <a:off x="841248" y="5303520"/>
            <a:ext cx="182880" cy="164592"/>
          </a:xfrm>
          <a:prstGeom prst="hexagon">
            <a:avLst/>
          </a:prstGeom>
          <a:solidFill>
            <a:srgbClr val="C08514"/>
          </a:solidFill>
          <a:ln/>
        </p:spPr>
      </p:sp>
      <p:sp>
        <p:nvSpPr>
          <p:cNvPr id="19" name="Text 17"/>
          <p:cNvSpPr/>
          <p:nvPr/>
        </p:nvSpPr>
        <p:spPr>
          <a:xfrm>
            <a:off x="1170432" y="5102352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LEVAMOS PARA O PROJETO —  </a:t>
            </a:r>
            <a:pPr indent="0" marL="0">
              <a:buNone/>
            </a:pPr>
            <a:r>
              <a:rPr lang="en-US" sz="13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a estratégia de combinar imagens da entrada com variáveis ambientais para avaliar a colônia sem intervenções invasivas.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19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4  •  IBMEC BARRA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89120" y="6419088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Smart Agricultural Technology, v. 9, 2024  •  DOI 10.1016/j.atech.2024.100584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2 DE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515600" y="3474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09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2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Narcia-Macias et al.  •  2024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35024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IntelliBeeHive: solução de baixo custo para rastreamento de abelhas e pólen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989320" cy="2761488"/>
          </a:xfrm>
          <a:prstGeom prst="roundRect">
            <a:avLst>
              <a:gd name="adj" fmla="val 2318"/>
            </a:avLst>
          </a:prstGeom>
          <a:solidFill>
            <a:srgbClr val="FFFFFF"/>
          </a:solidFill>
          <a:ln w="12700">
            <a:solidFill>
              <a:srgbClr val="E7DABB"/>
            </a:solidFill>
            <a:prstDash val="solid"/>
          </a:ln>
          <a:effectLst>
            <a:outerShdw sx="100000" sy="100000" kx="0" ky="0" algn="bl" rotWithShape="0" blurRad="88900" dist="25400" dir="5400000">
              <a:srgbClr val="CBB98D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249424"/>
            <a:ext cx="146304" cy="131674"/>
          </a:xfrm>
          <a:prstGeom prst="hexagon">
            <a:avLst/>
          </a:prstGeom>
          <a:solidFill>
            <a:srgbClr val="C08514"/>
          </a:solidFill>
          <a:ln/>
        </p:spPr>
      </p:sp>
      <p:sp>
        <p:nvSpPr>
          <p:cNvPr id="8" name="Text 6"/>
          <p:cNvSpPr/>
          <p:nvPr/>
        </p:nvSpPr>
        <p:spPr>
          <a:xfrm>
            <a:off x="1069848" y="2167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&amp; IMPLEMENTAÇÃO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" y="2578608"/>
            <a:ext cx="544068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 voltada diretamente para a entrada da colmeia.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leve YOLOv7-tiny otimizado para hardware com recursos limitados.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automatizada de fluxo de operárias e grãos de pólen transportados.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12280" y="1920240"/>
            <a:ext cx="4828032" cy="2761488"/>
          </a:xfrm>
          <a:prstGeom prst="roundRect">
            <a:avLst>
              <a:gd name="adj" fmla="val 2318"/>
            </a:avLst>
          </a:prstGeom>
          <a:solidFill>
            <a:srgbClr val="FFFFFF"/>
          </a:solidFill>
          <a:ln w="12700">
            <a:solidFill>
              <a:srgbClr val="E7DABB"/>
            </a:solidFill>
            <a:prstDash val="solid"/>
          </a:ln>
          <a:effectLst>
            <a:outerShdw sx="100000" sy="100000" kx="0" ky="0" algn="bl" rotWithShape="0" blurRad="88900" dist="25400" dir="5400000">
              <a:srgbClr val="CBB98D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86600" y="2249424"/>
            <a:ext cx="146304" cy="131674"/>
          </a:xfrm>
          <a:prstGeom prst="hexagon">
            <a:avLst/>
          </a:prstGeom>
          <a:solidFill>
            <a:srgbClr val="C08514"/>
          </a:solidFill>
          <a:ln/>
        </p:spPr>
      </p:sp>
      <p:sp>
        <p:nvSpPr>
          <p:cNvPr id="12" name="Text 10"/>
          <p:cNvSpPr/>
          <p:nvPr/>
        </p:nvSpPr>
        <p:spPr>
          <a:xfrm>
            <a:off x="7333488" y="2167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DESTAQUE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04888" y="256032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8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96,28%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104888" y="3054096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global no rastreamento de abelhas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104888" y="35661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8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= 0,8319 (pólen)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104888" y="40233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Varroa tratada como prova de conceito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4E7C7"/>
          </a:solidFill>
          <a:ln/>
        </p:spPr>
      </p:sp>
      <p:sp>
        <p:nvSpPr>
          <p:cNvPr id="18" name="Shape 16"/>
          <p:cNvSpPr/>
          <p:nvPr/>
        </p:nvSpPr>
        <p:spPr>
          <a:xfrm>
            <a:off x="841248" y="5303520"/>
            <a:ext cx="182880" cy="164592"/>
          </a:xfrm>
          <a:prstGeom prst="hexagon">
            <a:avLst/>
          </a:prstGeom>
          <a:solidFill>
            <a:srgbClr val="C08514"/>
          </a:solidFill>
          <a:ln/>
        </p:spPr>
      </p:sp>
      <p:sp>
        <p:nvSpPr>
          <p:cNvPr id="19" name="Text 17"/>
          <p:cNvSpPr/>
          <p:nvPr/>
        </p:nvSpPr>
        <p:spPr>
          <a:xfrm>
            <a:off x="1170432" y="5102352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LEVAMOS PARA O PROJETO —  </a:t>
            </a:r>
            <a:pPr indent="0" marL="0">
              <a:buNone/>
            </a:pPr>
            <a:r>
              <a:rPr lang="en-US" sz="13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 a viabilidade de modelos leves na borda, mantendo a detecção de Varroa como prova de conceito até validação com dados reais.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19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4  •  IBMEC BARRA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89120" y="6419088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IEEE ICMLA 2024, p. 845–850  •  DOI 10.1109/ICMLA61862.2024.00122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3 DE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515600" y="3474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09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2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Uthoff et al.  •  2023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35024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Sensoriamento acústico e vibracional para detecção de rainha e enxameação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989320" cy="2761488"/>
          </a:xfrm>
          <a:prstGeom prst="roundRect">
            <a:avLst>
              <a:gd name="adj" fmla="val 2318"/>
            </a:avLst>
          </a:prstGeom>
          <a:solidFill>
            <a:srgbClr val="FFFFFF"/>
          </a:solidFill>
          <a:ln w="12700">
            <a:solidFill>
              <a:srgbClr val="E7DABB"/>
            </a:solidFill>
            <a:prstDash val="solid"/>
          </a:ln>
          <a:effectLst>
            <a:outerShdw sx="100000" sy="100000" kx="0" ky="0" algn="bl" rotWithShape="0" blurRad="88900" dist="25400" dir="5400000">
              <a:srgbClr val="CBB98D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249424"/>
            <a:ext cx="146304" cy="131674"/>
          </a:xfrm>
          <a:prstGeom prst="hexagon">
            <a:avLst/>
          </a:prstGeom>
          <a:solidFill>
            <a:srgbClr val="C08514"/>
          </a:solidFill>
          <a:ln/>
        </p:spPr>
      </p:sp>
      <p:sp>
        <p:nvSpPr>
          <p:cNvPr id="8" name="Text 6"/>
          <p:cNvSpPr/>
          <p:nvPr/>
        </p:nvSpPr>
        <p:spPr>
          <a:xfrm>
            <a:off x="1069848" y="2167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&amp; IMPLEMENTAÇÃO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" y="2578608"/>
            <a:ext cx="544068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sistemática sobre o uso de microfones e acelerômetros em colmeias.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padrões acústicos ligados à presença da rainha e à preparação de enxame.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contínua de sinais vibroacústicos sem necessidade de abrir a colmeia.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12280" y="1920240"/>
            <a:ext cx="4828032" cy="2761488"/>
          </a:xfrm>
          <a:prstGeom prst="roundRect">
            <a:avLst>
              <a:gd name="adj" fmla="val 2318"/>
            </a:avLst>
          </a:prstGeom>
          <a:solidFill>
            <a:srgbClr val="FFFFFF"/>
          </a:solidFill>
          <a:ln w="12700">
            <a:solidFill>
              <a:srgbClr val="E7DABB"/>
            </a:solidFill>
            <a:prstDash val="solid"/>
          </a:ln>
          <a:effectLst>
            <a:outerShdw sx="100000" sy="100000" kx="0" ky="0" algn="bl" rotWithShape="0" blurRad="88900" dist="25400" dir="5400000">
              <a:srgbClr val="CBB98D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86600" y="2249424"/>
            <a:ext cx="146304" cy="131674"/>
          </a:xfrm>
          <a:prstGeom prst="hexagon">
            <a:avLst/>
          </a:prstGeom>
          <a:solidFill>
            <a:srgbClr val="C08514"/>
          </a:solidFill>
          <a:ln/>
        </p:spPr>
      </p:sp>
      <p:sp>
        <p:nvSpPr>
          <p:cNvPr id="12" name="Text 10"/>
          <p:cNvSpPr/>
          <p:nvPr/>
        </p:nvSpPr>
        <p:spPr>
          <a:xfrm>
            <a:off x="7333488" y="2167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DESTAQUE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04888" y="256032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08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não invasivos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104888" y="3054096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Promissores para prever enxameação e presença da rainha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104888" y="35661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08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 metodológico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104888" y="40233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pequenos e procedimentos ainda não padronizados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4E7C7"/>
          </a:solidFill>
          <a:ln/>
        </p:spPr>
      </p:sp>
      <p:sp>
        <p:nvSpPr>
          <p:cNvPr id="18" name="Shape 16"/>
          <p:cNvSpPr/>
          <p:nvPr/>
        </p:nvSpPr>
        <p:spPr>
          <a:xfrm>
            <a:off x="841248" y="5303520"/>
            <a:ext cx="182880" cy="164592"/>
          </a:xfrm>
          <a:prstGeom prst="hexagon">
            <a:avLst/>
          </a:prstGeom>
          <a:solidFill>
            <a:srgbClr val="C08514"/>
          </a:solidFill>
          <a:ln/>
        </p:spPr>
      </p:sp>
      <p:sp>
        <p:nvSpPr>
          <p:cNvPr id="19" name="Text 17"/>
          <p:cNvSpPr/>
          <p:nvPr/>
        </p:nvSpPr>
        <p:spPr>
          <a:xfrm>
            <a:off x="1170432" y="5102352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LEVAMOS PARA O PROJETO —  </a:t>
            </a:r>
            <a:pPr indent="0" marL="0">
              <a:buNone/>
            </a:pPr>
            <a:r>
              <a:rPr lang="en-US" sz="13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Áudio e vibração são tratados como sinais experimentais complementares, que devem ser validados junto com os sensores de temperatura e umidade.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19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4  •  IBMEC BARRA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89120" y="6419088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Computers and Electronics in Agriculture, v. 205, 2023  •  DOI 10.1016/j.compag.2022.107589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4 DE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515600" y="3474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09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2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Tashakkori, Hamza e Crawford  •  2021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35024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Beemon: arquitetura IoT integrada com telemetria contínua e nuvem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989320" cy="2761488"/>
          </a:xfrm>
          <a:prstGeom prst="roundRect">
            <a:avLst>
              <a:gd name="adj" fmla="val 2318"/>
            </a:avLst>
          </a:prstGeom>
          <a:solidFill>
            <a:srgbClr val="FFFFFF"/>
          </a:solidFill>
          <a:ln w="12700">
            <a:solidFill>
              <a:srgbClr val="E7DABB"/>
            </a:solidFill>
            <a:prstDash val="solid"/>
          </a:ln>
          <a:effectLst>
            <a:outerShdw sx="100000" sy="100000" kx="0" ky="0" algn="bl" rotWithShape="0" blurRad="88900" dist="25400" dir="5400000">
              <a:srgbClr val="CBB98D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249424"/>
            <a:ext cx="146304" cy="131674"/>
          </a:xfrm>
          <a:prstGeom prst="hexagon">
            <a:avLst/>
          </a:prstGeom>
          <a:solidFill>
            <a:srgbClr val="C08514"/>
          </a:solidFill>
          <a:ln/>
        </p:spPr>
      </p:sp>
      <p:sp>
        <p:nvSpPr>
          <p:cNvPr id="8" name="Text 6"/>
          <p:cNvSpPr/>
          <p:nvPr/>
        </p:nvSpPr>
        <p:spPr>
          <a:xfrm>
            <a:off x="1069848" y="2167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&amp; IMPLEMENTAÇÃO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" y="2578608"/>
            <a:ext cx="544068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multissensorial completa: temperatura, umidade, balança de peso, áudio e vídeo.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baseada no protocolo leve MQTT para telemetria em tempo real.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controle centralizado no ThingsBoard e armazenamento em nuvem.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12280" y="1920240"/>
            <a:ext cx="4828032" cy="2761488"/>
          </a:xfrm>
          <a:prstGeom prst="roundRect">
            <a:avLst>
              <a:gd name="adj" fmla="val 2318"/>
            </a:avLst>
          </a:prstGeom>
          <a:solidFill>
            <a:srgbClr val="FFFFFF"/>
          </a:solidFill>
          <a:ln w="12700">
            <a:solidFill>
              <a:srgbClr val="E7DABB"/>
            </a:solidFill>
            <a:prstDash val="solid"/>
          </a:ln>
          <a:effectLst>
            <a:outerShdw sx="100000" sy="100000" kx="0" ky="0" algn="bl" rotWithShape="0" blurRad="88900" dist="25400" dir="5400000">
              <a:srgbClr val="CBB98D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86600" y="2249424"/>
            <a:ext cx="146304" cy="131674"/>
          </a:xfrm>
          <a:prstGeom prst="hexagon">
            <a:avLst/>
          </a:prstGeom>
          <a:solidFill>
            <a:srgbClr val="C08514"/>
          </a:solidFill>
          <a:ln/>
        </p:spPr>
      </p:sp>
      <p:sp>
        <p:nvSpPr>
          <p:cNvPr id="12" name="Text 10"/>
          <p:cNvSpPr/>
          <p:nvPr/>
        </p:nvSpPr>
        <p:spPr>
          <a:xfrm>
            <a:off x="7333488" y="2167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DESTAQUE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04888" y="256032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8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modalidades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104888" y="3054096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Temperatura, umidade, peso, som e vídeo integrados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104888" y="35661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08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Telemetria em nuvem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104888" y="40233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remoto e histórico unificado para análise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4E7C7"/>
          </a:solidFill>
          <a:ln/>
        </p:spPr>
      </p:sp>
      <p:sp>
        <p:nvSpPr>
          <p:cNvPr id="18" name="Shape 16"/>
          <p:cNvSpPr/>
          <p:nvPr/>
        </p:nvSpPr>
        <p:spPr>
          <a:xfrm>
            <a:off x="841248" y="5303520"/>
            <a:ext cx="182880" cy="164592"/>
          </a:xfrm>
          <a:prstGeom prst="hexagon">
            <a:avLst/>
          </a:prstGeom>
          <a:solidFill>
            <a:srgbClr val="C08514"/>
          </a:solidFill>
          <a:ln/>
        </p:spPr>
      </p:sp>
      <p:sp>
        <p:nvSpPr>
          <p:cNvPr id="19" name="Text 17"/>
          <p:cNvSpPr/>
          <p:nvPr/>
        </p:nvSpPr>
        <p:spPr>
          <a:xfrm>
            <a:off x="1170432" y="5102352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LEVAMOS PARA O PROJETO —  </a:t>
            </a:r>
            <a:pPr indent="0" marL="0">
              <a:buNone/>
            </a:pPr>
            <a:r>
              <a:rPr lang="en-US" sz="13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 a cadeia de dados do projeto: aquisição nos sensores, processamento embarcado, transporte MQTT e visualização em dashboard.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19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4  •  IBMEC BARRA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89120" y="6419088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Computers and Electronics in Agriculture, v. 190, 2021  •  DOI 10.1016/j.compag.2021.106427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5 DE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515600" y="3474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09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2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Henry et al.  •  2019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35024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de sensores sem fio (WSN) para monitoramento em apiários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989320" cy="2761488"/>
          </a:xfrm>
          <a:prstGeom prst="roundRect">
            <a:avLst>
              <a:gd name="adj" fmla="val 2318"/>
            </a:avLst>
          </a:prstGeom>
          <a:solidFill>
            <a:srgbClr val="FFFFFF"/>
          </a:solidFill>
          <a:ln w="12700">
            <a:solidFill>
              <a:srgbClr val="E7DABB"/>
            </a:solidFill>
            <a:prstDash val="solid"/>
          </a:ln>
          <a:effectLst>
            <a:outerShdw sx="100000" sy="100000" kx="0" ky="0" algn="bl" rotWithShape="0" blurRad="88900" dist="25400" dir="5400000">
              <a:srgbClr val="CBB98D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249424"/>
            <a:ext cx="146304" cy="131674"/>
          </a:xfrm>
          <a:prstGeom prst="hexagon">
            <a:avLst/>
          </a:prstGeom>
          <a:solidFill>
            <a:srgbClr val="C08514"/>
          </a:solidFill>
          <a:ln/>
        </p:spPr>
      </p:sp>
      <p:sp>
        <p:nvSpPr>
          <p:cNvPr id="8" name="Text 6"/>
          <p:cNvSpPr/>
          <p:nvPr/>
        </p:nvSpPr>
        <p:spPr>
          <a:xfrm>
            <a:off x="1069848" y="2167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&amp; IMPLEMENTAÇÃO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" y="2578608"/>
            <a:ext cx="544068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de nós sensores sem fio instalados no interior das colmeias.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contínuo de temperatura interna, umidade relativa e acústica.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séries temporais para detectar anomalias térmicas e estresse na colônia.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12280" y="1920240"/>
            <a:ext cx="4828032" cy="2761488"/>
          </a:xfrm>
          <a:prstGeom prst="roundRect">
            <a:avLst>
              <a:gd name="adj" fmla="val 2318"/>
            </a:avLst>
          </a:prstGeom>
          <a:solidFill>
            <a:srgbClr val="FFFFFF"/>
          </a:solidFill>
          <a:ln w="12700">
            <a:solidFill>
              <a:srgbClr val="E7DABB"/>
            </a:solidFill>
            <a:prstDash val="solid"/>
          </a:ln>
          <a:effectLst>
            <a:outerShdw sx="100000" sy="100000" kx="0" ky="0" algn="bl" rotWithShape="0" blurRad="88900" dist="25400" dir="5400000">
              <a:srgbClr val="CBB98D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86600" y="2249424"/>
            <a:ext cx="146304" cy="131674"/>
          </a:xfrm>
          <a:prstGeom prst="hexagon">
            <a:avLst/>
          </a:prstGeom>
          <a:solidFill>
            <a:srgbClr val="C08514"/>
          </a:solidFill>
          <a:ln/>
        </p:spPr>
      </p:sp>
      <p:sp>
        <p:nvSpPr>
          <p:cNvPr id="12" name="Text 10"/>
          <p:cNvSpPr/>
          <p:nvPr/>
        </p:nvSpPr>
        <p:spPr>
          <a:xfrm>
            <a:off x="7333488" y="2167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DESTAQUE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04888" y="256032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08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 sem fio (WSN)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104888" y="3054096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distribuído em escala sem perturbar o ninho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104888" y="35661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08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Séries temporais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104888" y="40233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precoce de alterações térmicas no ninho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4E7C7"/>
          </a:solidFill>
          <a:ln/>
        </p:spPr>
      </p:sp>
      <p:sp>
        <p:nvSpPr>
          <p:cNvPr id="18" name="Shape 16"/>
          <p:cNvSpPr/>
          <p:nvPr/>
        </p:nvSpPr>
        <p:spPr>
          <a:xfrm>
            <a:off x="841248" y="5303520"/>
            <a:ext cx="182880" cy="164592"/>
          </a:xfrm>
          <a:prstGeom prst="hexagon">
            <a:avLst/>
          </a:prstGeom>
          <a:solidFill>
            <a:srgbClr val="C08514"/>
          </a:solidFill>
          <a:ln/>
        </p:spPr>
      </p:sp>
      <p:sp>
        <p:nvSpPr>
          <p:cNvPr id="19" name="Text 17"/>
          <p:cNvSpPr/>
          <p:nvPr/>
        </p:nvSpPr>
        <p:spPr>
          <a:xfrm>
            <a:off x="1170432" y="5102352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LEVAMOS PARA O PROJETO —  </a:t>
            </a:r>
            <a:pPr indent="0" marL="0">
              <a:buNone/>
            </a:pPr>
            <a:r>
              <a:rPr lang="en-US" sz="13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Reforça a importância de registrar data/hora precisas, garantir a estabilidade do link sem fio e mapear possíveis perdas de pacotes.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19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4  •  IBMEC BARRA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89120" y="6419088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Computers and Electronics in Agriculture, v. 156, 2019  •  DOI 10.1016/j.compag.2018.11.001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6 DE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515600" y="3474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09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2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et al.  •  2016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35024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computacional leve na Raspberry Pi para fluxo de entrada e saída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989320" cy="2761488"/>
          </a:xfrm>
          <a:prstGeom prst="roundRect">
            <a:avLst>
              <a:gd name="adj" fmla="val 2318"/>
            </a:avLst>
          </a:prstGeom>
          <a:solidFill>
            <a:srgbClr val="FFFFFF"/>
          </a:solidFill>
          <a:ln w="12700">
            <a:solidFill>
              <a:srgbClr val="E7DABB"/>
            </a:solidFill>
            <a:prstDash val="solid"/>
          </a:ln>
          <a:effectLst>
            <a:outerShdw sx="100000" sy="100000" kx="0" ky="0" algn="bl" rotWithShape="0" blurRad="88900" dist="25400" dir="5400000">
              <a:srgbClr val="CBB98D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249424"/>
            <a:ext cx="146304" cy="131674"/>
          </a:xfrm>
          <a:prstGeom prst="hexagon">
            <a:avLst/>
          </a:prstGeom>
          <a:solidFill>
            <a:srgbClr val="C08514"/>
          </a:solidFill>
          <a:ln/>
        </p:spPr>
      </p:sp>
      <p:sp>
        <p:nvSpPr>
          <p:cNvPr id="8" name="Text 6"/>
          <p:cNvSpPr/>
          <p:nvPr/>
        </p:nvSpPr>
        <p:spPr>
          <a:xfrm>
            <a:off x="1069848" y="2167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&amp; IMPLEMENTAÇÃO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" y="2578608"/>
            <a:ext cx="544068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 posicionada na entrada acoplada diretamente a uma Raspberry Pi.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clássico de subtração de fundo para contagem sem exigir hardware pesado.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do fluxo bidirecional de abelhas (taxa de entrada vs. taxa de saída).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12280" y="1920240"/>
            <a:ext cx="4828032" cy="2761488"/>
          </a:xfrm>
          <a:prstGeom prst="roundRect">
            <a:avLst>
              <a:gd name="adj" fmla="val 2318"/>
            </a:avLst>
          </a:prstGeom>
          <a:solidFill>
            <a:srgbClr val="FFFFFF"/>
          </a:solidFill>
          <a:ln w="12700">
            <a:solidFill>
              <a:srgbClr val="E7DABB"/>
            </a:solidFill>
            <a:prstDash val="solid"/>
          </a:ln>
          <a:effectLst>
            <a:outerShdw sx="100000" sy="100000" kx="0" ky="0" algn="bl" rotWithShape="0" blurRad="88900" dist="25400" dir="5400000">
              <a:srgbClr val="CBB98D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86600" y="2249424"/>
            <a:ext cx="146304" cy="131674"/>
          </a:xfrm>
          <a:prstGeom prst="hexagon">
            <a:avLst/>
          </a:prstGeom>
          <a:solidFill>
            <a:srgbClr val="C08514"/>
          </a:solidFill>
          <a:ln/>
        </p:spPr>
      </p:sp>
      <p:sp>
        <p:nvSpPr>
          <p:cNvPr id="12" name="Text 10"/>
          <p:cNvSpPr/>
          <p:nvPr/>
        </p:nvSpPr>
        <p:spPr>
          <a:xfrm>
            <a:off x="7333488" y="2167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DESTAQUE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04888" y="256032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08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0,987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7104888" y="3054096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Concordância com a contagem manual de abelhas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104888" y="35661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08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0,953 / 0,888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104888" y="40233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entrada (0,953) e de saída (0,888)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4E7C7"/>
          </a:solidFill>
          <a:ln/>
        </p:spPr>
      </p:sp>
      <p:sp>
        <p:nvSpPr>
          <p:cNvPr id="18" name="Shape 16"/>
          <p:cNvSpPr/>
          <p:nvPr/>
        </p:nvSpPr>
        <p:spPr>
          <a:xfrm>
            <a:off x="841248" y="5303520"/>
            <a:ext cx="182880" cy="164592"/>
          </a:xfrm>
          <a:prstGeom prst="hexagon">
            <a:avLst/>
          </a:prstGeom>
          <a:solidFill>
            <a:srgbClr val="C08514"/>
          </a:solidFill>
          <a:ln/>
        </p:spPr>
      </p:sp>
      <p:sp>
        <p:nvSpPr>
          <p:cNvPr id="19" name="Text 17"/>
          <p:cNvSpPr/>
          <p:nvPr/>
        </p:nvSpPr>
        <p:spPr>
          <a:xfrm>
            <a:off x="1170432" y="5102352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LEVAMOS PARA O PROJETO —  </a:t>
            </a:r>
            <a:pPr indent="0" marL="0">
              <a:buNone/>
            </a:pPr>
            <a:r>
              <a:rPr lang="en-US" sz="13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Comprova a viabilidade de algoritmos leves na borda e motiva a validação inicial com contagens manuais anotadas como referência.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19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4  •  IBMEC BARRA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89120" y="6419088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Computers and Electronics in Agriculture, v. 122, 2016  •  DOI 10.1016/j.compag.2016.01.011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10235"/>
          </a:xfrm>
          <a:prstGeom prst="hexagon">
            <a:avLst/>
          </a:prstGeom>
          <a:ln w="12700">
            <a:solidFill>
              <a:srgbClr val="E7DAB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" y="832104"/>
            <a:ext cx="384048" cy="345643"/>
          </a:xfrm>
          <a:prstGeom prst="hexagon">
            <a:avLst/>
          </a:prstGeom>
          <a:ln w="12700">
            <a:solidFill>
              <a:srgbClr val="E7DA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1170432"/>
            <a:ext cx="274320" cy="246888"/>
          </a:xfrm>
          <a:prstGeom prst="hexagon">
            <a:avLst/>
          </a:prstGeom>
          <a:ln w="12700">
            <a:solidFill>
              <a:srgbClr val="E7DA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0" y="5532120"/>
            <a:ext cx="566928" cy="510235"/>
          </a:xfrm>
          <a:prstGeom prst="hexagon">
            <a:avLst/>
          </a:prstGeom>
          <a:ln w="12700">
            <a:solidFill>
              <a:srgbClr val="E7DA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52760" y="5989320"/>
            <a:ext cx="384048" cy="345643"/>
          </a:xfrm>
          <a:prstGeom prst="hexagon">
            <a:avLst/>
          </a:prstGeom>
          <a:ln w="12700">
            <a:solidFill>
              <a:srgbClr val="E7DA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58600" y="5138928"/>
            <a:ext cx="274320" cy="246888"/>
          </a:xfrm>
          <a:prstGeom prst="hexagon">
            <a:avLst/>
          </a:prstGeom>
          <a:ln w="12700">
            <a:solidFill>
              <a:srgbClr val="E7DAB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88736" y="1572768"/>
            <a:ext cx="566928" cy="510235"/>
          </a:xfrm>
          <a:prstGeom prst="hexagon">
            <a:avLst/>
          </a:prstGeom>
          <a:solidFill>
            <a:srgbClr val="C08514"/>
          </a:solidFill>
          <a:ln/>
        </p:spPr>
      </p:sp>
      <p:sp>
        <p:nvSpPr>
          <p:cNvPr id="9" name="Text 7"/>
          <p:cNvSpPr/>
          <p:nvPr/>
        </p:nvSpPr>
        <p:spPr>
          <a:xfrm>
            <a:off x="5797296" y="1527048"/>
            <a:ext cx="749808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08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548640" y="352958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100" kern="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e Discussão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45262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300" kern="0" dirty="0">
                <a:solidFill>
                  <a:srgbClr val="8F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4  •  IBMEC BARRA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4846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Igor Costa   •   Jorge Alves   •   Ian Dias   •   Davi Ito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419088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6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Beehive Monitoring  •  IBM3118 Sistemas Embarcados (2026.2)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2026-09-01T17:27:10Z</dcterms:created>
  <dcterms:modified xsi:type="dcterms:W3CDTF">2026-09-01T17:27:10Z</dcterms:modified>
</cp:coreProperties>
</file>