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909560" cy="6858000"/>
          </a:xfrm>
          <a:prstGeom prst="rect">
            <a:avLst/>
          </a:prstGeom>
          <a:solidFill>
            <a:srgbClr val="1B3754"/>
          </a:solidFill>
          <a:ln w="6350">
            <a:solidFill>
              <a:srgbClr val="1B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4282135" cy="6858000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IBM3118  |  AC4  |  REVISÃO DE LITERATURA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662940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Arial"/>
              </a:rPr>
              <a:t>Monitoramento de Colmeias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27832"/>
            <a:ext cx="635508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0">
                <a:solidFill>
                  <a:srgbClr val="DBE6F0"/>
                </a:solidFill>
                <a:latin typeface="Arial"/>
              </a:rPr>
              <a:t>O que seis pesquisas ensinam para o nosso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144768"/>
            <a:ext cx="6583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Igor Costa  ·  Jorge Alves  ·  Ian Dias  ·  Davi 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417320"/>
            <a:ext cx="32918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B3754"/>
                </a:solidFill>
                <a:latin typeface="Arial"/>
              </a:rPr>
              <a:t>NOSSA PERGUNTA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057400"/>
            <a:ext cx="3154680" cy="2240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B3754"/>
                </a:solidFill>
                <a:latin typeface="Arial"/>
              </a:rPr>
              <a:t>Como acompanhar uma colmeia sem precisar abri-la o tempo todo?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6144768"/>
            <a:ext cx="3154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B3754"/>
                </a:solidFill>
                <a:latin typeface="Arial"/>
              </a:rPr>
              <a:t>Apresentação para a turma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1B3754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A6574"/>
                </a:solidFill>
                <a:latin typeface="Arial"/>
              </a:rPr>
              <a:t>PONTO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C2430"/>
                </a:solidFill>
                <a:latin typeface="Arial"/>
              </a:rPr>
              <a:t>Abrir a colmeia mostra apenas um momento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35608"/>
            <a:ext cx="960120" cy="64008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A6574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C2430"/>
                </a:solidFill>
                <a:latin typeface="Arial"/>
              </a:rPr>
              <a:t>A literatura procura formas de observar a colônia por mais tempo e com menos interferência.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458CC4"/>
                </a:solidFill>
                <a:latin typeface="Arial"/>
              </a:rPr>
              <a:t>AMBIENTE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297180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0">
                <a:solidFill>
                  <a:srgbClr val="1C2430"/>
                </a:solidFill>
                <a:latin typeface="Arial"/>
              </a:rPr>
              <a:t>Temperatura, umidade e condições externas.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880360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539976"/>
                </a:solidFill>
                <a:latin typeface="Arial"/>
              </a:rPr>
              <a:t>MOVIMENTO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474720"/>
            <a:ext cx="297180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0">
                <a:solidFill>
                  <a:srgbClr val="1C2430"/>
                </a:solidFill>
                <a:latin typeface="Arial"/>
              </a:rPr>
              <a:t>Abelhas entrando, saindo e levando pólen.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880360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DA6F5C"/>
                </a:solidFill>
                <a:latin typeface="Arial"/>
              </a:rPr>
              <a:t>SOM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474720"/>
            <a:ext cx="297180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0">
                <a:solidFill>
                  <a:srgbClr val="1C2430"/>
                </a:solidFill>
                <a:latin typeface="Arial"/>
              </a:rPr>
              <a:t>Ruídos e vibrações produzidos pela colônia.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230368"/>
            <a:ext cx="10863072" cy="566928"/>
          </a:xfrm>
          <a:prstGeom prst="rect">
            <a:avLst/>
          </a:prstGeom>
          <a:solidFill>
            <a:srgbClr val="FFF7E0"/>
          </a:solidFill>
          <a:ln w="6350">
            <a:solidFill>
              <a:srgbClr val="FFF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367528"/>
            <a:ext cx="10378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B3754"/>
                </a:solidFill>
                <a:latin typeface="Arial"/>
              </a:rPr>
              <a:t>Ideia central: nenhum desses sinais conta a história completa sozinho.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428232"/>
            <a:ext cx="10863072" cy="10972"/>
          </a:xfrm>
          <a:prstGeom prst="rect">
            <a:avLst/>
          </a:prstGeom>
          <a:solidFill>
            <a:srgbClr val="D2D8DF"/>
          </a:solidFill>
          <a:ln w="635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492240"/>
            <a:ext cx="10195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A6574"/>
                </a:solidFill>
                <a:latin typeface="Arial"/>
              </a:rPr>
              <a:t>Fonte: síntese das seis referências apresentadas a seguir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A6574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A6574"/>
                </a:solidFill>
                <a:latin typeface="Arial"/>
              </a:rPr>
              <a:t>ARTIGO 1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C2430"/>
                </a:solidFill>
                <a:latin typeface="Arial"/>
              </a:rPr>
              <a:t>Sensores e câmera explicam a atividade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35608"/>
            <a:ext cx="960120" cy="64008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A6574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1353312"/>
            <a:ext cx="9464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58CC4"/>
                </a:solidFill>
                <a:latin typeface="Arial"/>
              </a:rPr>
              <a:t>Zheng et al. · 2024 · Universiti Teknologi MARA (Malásia) + instituições chinesas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45262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58CC4"/>
                </a:solidFill>
                <a:latin typeface="Arial"/>
              </a:rPr>
              <a:t>O QUE ELES FIZERAM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4480560" cy="1719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>
                <a:solidFill>
                  <a:srgbClr val="1C2430"/>
                </a:solidFill>
                <a:latin typeface="Arial"/>
              </a:rPr>
              <a:t>Mediram temperatura e umidade em vários pontos da colmeia e filmaram a entrada para acompanhar as abelhas.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783080"/>
            <a:ext cx="5806440" cy="2944368"/>
          </a:xfrm>
          <a:prstGeom prst="rect">
            <a:avLst/>
          </a:prstGeom>
          <a:solidFill>
            <a:srgbClr val="E6F3FB"/>
          </a:solidFill>
          <a:ln w="6350">
            <a:solidFill>
              <a:srgbClr val="E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2103120"/>
            <a:ext cx="50474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58CC4"/>
                </a:solidFill>
                <a:latin typeface="Arial"/>
              </a:rPr>
              <a:t>PRINCIPAL 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2633472"/>
            <a:ext cx="498348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458CC4"/>
                </a:solidFill>
                <a:latin typeface="Arial"/>
              </a:rPr>
              <a:t>Até 16 quadros/s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3474720"/>
            <a:ext cx="49377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C2430"/>
                </a:solidFill>
                <a:latin typeface="Arial"/>
              </a:rPr>
              <a:t>O sistema relacionou a atividade das abelhas com chuva, temperatura e umidade.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001768"/>
            <a:ext cx="10863072" cy="960120"/>
          </a:xfrm>
          <a:prstGeom prst="rect">
            <a:avLst/>
          </a:prstGeom>
          <a:solidFill>
            <a:srgbClr val="458CC4"/>
          </a:solidFill>
          <a:ln w="6350">
            <a:solidFill>
              <a:srgbClr val="458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212080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PARA O NOSSO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5175504"/>
            <a:ext cx="82296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Combinar sensores ambientais com uma câmera na entrada.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428232"/>
            <a:ext cx="10863072" cy="10972"/>
          </a:xfrm>
          <a:prstGeom prst="rect">
            <a:avLst/>
          </a:prstGeom>
          <a:solidFill>
            <a:srgbClr val="D2D8DF"/>
          </a:solidFill>
          <a:ln w="635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492240"/>
            <a:ext cx="10195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A6574"/>
                </a:solidFill>
                <a:latin typeface="Arial"/>
              </a:rPr>
              <a:t>Fonte: Zheng et al. (2024), DOI 10.1016/j.atech.2024.100584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A6574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A6574"/>
                </a:solidFill>
                <a:latin typeface="Arial"/>
              </a:rPr>
              <a:t>ARTIGO 2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C2430"/>
                </a:solidFill>
                <a:latin typeface="Arial"/>
              </a:rPr>
              <a:t>Câmera barata conta abelhas e pólen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35608"/>
            <a:ext cx="960120" cy="64008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A6574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1353312"/>
            <a:ext cx="9464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A6F5C"/>
                </a:solidFill>
                <a:latin typeface="Arial"/>
              </a:rPr>
              <a:t>Narcia-Macias et al. · 2024 · University of Texas Rio Grande Valley (EUA)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45262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A6F5C"/>
                </a:solidFill>
                <a:latin typeface="Arial"/>
              </a:rPr>
              <a:t>O QUE ELES FIZERAM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4480560" cy="1719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>
                <a:solidFill>
                  <a:srgbClr val="1C2430"/>
                </a:solidFill>
                <a:latin typeface="Arial"/>
              </a:rPr>
              <a:t>Usaram um modelo leve de visão computacional para acompanhar abelhas, pólen e possíveis ácaros na entrada.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783080"/>
            <a:ext cx="5806440" cy="2944368"/>
          </a:xfrm>
          <a:prstGeom prst="rect">
            <a:avLst/>
          </a:prstGeom>
          <a:solidFill>
            <a:srgbClr val="FCECE8"/>
          </a:solidFill>
          <a:ln w="6350">
            <a:solidFill>
              <a:srgbClr val="FC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2103120"/>
            <a:ext cx="50474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A6F5C"/>
                </a:solidFill>
                <a:latin typeface="Arial"/>
              </a:rPr>
              <a:t>PRINCIPAL 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2633472"/>
            <a:ext cx="498348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DA6F5C"/>
                </a:solidFill>
                <a:latin typeface="Arial"/>
              </a:rPr>
              <a:t>96% de acerto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3474720"/>
            <a:ext cx="49377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C2430"/>
                </a:solidFill>
                <a:latin typeface="Arial"/>
              </a:rPr>
              <a:t>A detecção de pólen foi promissora, mas a análise de Varroa ainda tinha poucos dados.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001768"/>
            <a:ext cx="10863072" cy="960120"/>
          </a:xfrm>
          <a:prstGeom prst="rect">
            <a:avLst/>
          </a:prstGeom>
          <a:solidFill>
            <a:srgbClr val="DA6F5C"/>
          </a:solidFill>
          <a:ln w="6350">
            <a:solidFill>
              <a:srgbClr val="DA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212080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PARA O NOSSO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5175504"/>
            <a:ext cx="82296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Começar com contagem de abelhas; tratar Varroa como etapa futura.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428232"/>
            <a:ext cx="10863072" cy="10972"/>
          </a:xfrm>
          <a:prstGeom prst="rect">
            <a:avLst/>
          </a:prstGeom>
          <a:solidFill>
            <a:srgbClr val="D2D8DF"/>
          </a:solidFill>
          <a:ln w="635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492240"/>
            <a:ext cx="10195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A6574"/>
                </a:solidFill>
                <a:latin typeface="Arial"/>
              </a:rPr>
              <a:t>Fonte: Narcia-Macias et al. (2024), DOI 10.1109/ICMLA61862.2024.00122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A6574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A6574"/>
                </a:solidFill>
                <a:latin typeface="Arial"/>
              </a:rPr>
              <a:t>ARTIGO 3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C2430"/>
                </a:solidFill>
                <a:latin typeface="Arial"/>
              </a:rPr>
              <a:t>Som e vibração indicam mudanças internas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35608"/>
            <a:ext cx="960120" cy="64008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A6574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1353312"/>
            <a:ext cx="9464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39976"/>
                </a:solidFill>
                <a:latin typeface="Arial"/>
              </a:rPr>
              <a:t>Uthoff et al. · 2023 · Helmholtz-UFZ, Leipzig (Alemanha)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45262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39976"/>
                </a:solidFill>
                <a:latin typeface="Arial"/>
              </a:rPr>
              <a:t>O QUE ELES FIZERAM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4480560" cy="1719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>
                <a:solidFill>
                  <a:srgbClr val="1C2430"/>
                </a:solidFill>
                <a:latin typeface="Arial"/>
              </a:rPr>
              <a:t>Reuniram pesquisas que usam microfones e acelerômetros para estudar presença da rainha e preparação para enxameação.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783080"/>
            <a:ext cx="5806440" cy="2944368"/>
          </a:xfrm>
          <a:prstGeom prst="rect">
            <a:avLst/>
          </a:prstGeom>
          <a:solidFill>
            <a:srgbClr val="E7F6ED"/>
          </a:solidFill>
          <a:ln w="6350">
            <a:solidFill>
              <a:srgbClr val="E7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2103120"/>
            <a:ext cx="50474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39976"/>
                </a:solidFill>
                <a:latin typeface="Arial"/>
              </a:rPr>
              <a:t>PRINCIPAL 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2633472"/>
            <a:ext cx="498348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539976"/>
                </a:solidFill>
                <a:latin typeface="Arial"/>
              </a:rPr>
              <a:t>Sem padrão comum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3474720"/>
            <a:ext cx="49377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C2430"/>
                </a:solidFill>
                <a:latin typeface="Arial"/>
              </a:rPr>
              <a:t>Os estudos usam poucos dados e métodos diferentes, então os resultados ainda são difíceis de comparar.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001768"/>
            <a:ext cx="10863072" cy="960120"/>
          </a:xfrm>
          <a:prstGeom prst="rect">
            <a:avLst/>
          </a:prstGeom>
          <a:solidFill>
            <a:srgbClr val="539976"/>
          </a:solidFill>
          <a:ln w="6350">
            <a:solidFill>
              <a:srgbClr val="539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212080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PARA O NOSSO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5175504"/>
            <a:ext cx="82296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Áudio pode ajudar, mas exige microfone adequado e validação própria.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428232"/>
            <a:ext cx="10863072" cy="10972"/>
          </a:xfrm>
          <a:prstGeom prst="rect">
            <a:avLst/>
          </a:prstGeom>
          <a:solidFill>
            <a:srgbClr val="D2D8DF"/>
          </a:solidFill>
          <a:ln w="635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492240"/>
            <a:ext cx="10195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A6574"/>
                </a:solidFill>
                <a:latin typeface="Arial"/>
              </a:rPr>
              <a:t>Fonte: Uthoff et al. (2023), DOI 10.1016/j.compag.2022.107589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A6574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A6574"/>
                </a:solidFill>
                <a:latin typeface="Arial"/>
              </a:rPr>
              <a:t>ARTIGO 4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C2430"/>
                </a:solidFill>
                <a:latin typeface="Arial"/>
              </a:rPr>
              <a:t>A colmeia pode ser acompanhada pela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35608"/>
            <a:ext cx="960120" cy="64008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A6574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1353312"/>
            <a:ext cx="9464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58CC4"/>
                </a:solidFill>
                <a:latin typeface="Arial"/>
              </a:rPr>
              <a:t>Tashakkori et al. · 2021 · Appalachian State University (EUA)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45262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58CC4"/>
                </a:solidFill>
                <a:latin typeface="Arial"/>
              </a:rPr>
              <a:t>O QUE ELES FIZERAM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4480560" cy="1719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>
                <a:solidFill>
                  <a:srgbClr val="1C2430"/>
                </a:solidFill>
                <a:latin typeface="Arial"/>
              </a:rPr>
              <a:t>O Beemon reuniu temperatura, umidade, peso, áudio e vídeo e enviou os dados para visualização remota.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783080"/>
            <a:ext cx="5806440" cy="2944368"/>
          </a:xfrm>
          <a:prstGeom prst="rect">
            <a:avLst/>
          </a:prstGeom>
          <a:solidFill>
            <a:srgbClr val="E6F3FB"/>
          </a:solidFill>
          <a:ln w="6350">
            <a:solidFill>
              <a:srgbClr val="E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2103120"/>
            <a:ext cx="50474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58CC4"/>
                </a:solidFill>
                <a:latin typeface="Arial"/>
              </a:rPr>
              <a:t>PRINCIPAL 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2633472"/>
            <a:ext cx="498348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458CC4"/>
                </a:solidFill>
                <a:latin typeface="Arial"/>
              </a:rPr>
              <a:t>Quase em tempo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3474720"/>
            <a:ext cx="49377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C2430"/>
                </a:solidFill>
                <a:latin typeface="Arial"/>
              </a:rPr>
              <a:t>O principal ganho foi ter uma estrutura completa de coleta, envio e armazenamento de dados.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001768"/>
            <a:ext cx="10863072" cy="960120"/>
          </a:xfrm>
          <a:prstGeom prst="rect">
            <a:avLst/>
          </a:prstGeom>
          <a:solidFill>
            <a:srgbClr val="458CC4"/>
          </a:solidFill>
          <a:ln w="6350">
            <a:solidFill>
              <a:srgbClr val="458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212080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PARA O NOSSO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5175504"/>
            <a:ext cx="82296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Enviar registros com horário para acompanhar a colmeia à distância.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428232"/>
            <a:ext cx="10863072" cy="10972"/>
          </a:xfrm>
          <a:prstGeom prst="rect">
            <a:avLst/>
          </a:prstGeom>
          <a:solidFill>
            <a:srgbClr val="D2D8DF"/>
          </a:solidFill>
          <a:ln w="635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492240"/>
            <a:ext cx="10195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A6574"/>
                </a:solidFill>
                <a:latin typeface="Arial"/>
              </a:rPr>
              <a:t>Fonte: Tashakkori, Hamza e Crawford (2021), DOI 10.1016/j.compag.2021.106427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A6574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A6574"/>
                </a:solidFill>
                <a:latin typeface="Arial"/>
              </a:rPr>
              <a:t>ARTIGO 5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C2430"/>
                </a:solidFill>
                <a:latin typeface="Arial"/>
              </a:rPr>
              <a:t>Wi-Fi permite coletar dados no apiário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35608"/>
            <a:ext cx="960120" cy="64008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A6574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1353312"/>
            <a:ext cx="9464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A6F5C"/>
                </a:solidFill>
                <a:latin typeface="Arial"/>
              </a:rPr>
              <a:t>Henry et al. · 2019 · McGill University, Quebec (Canadá)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45262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A6F5C"/>
                </a:solidFill>
                <a:latin typeface="Arial"/>
              </a:rPr>
              <a:t>O QUE ELES FIZERAM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4480560" cy="1719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>
                <a:solidFill>
                  <a:srgbClr val="1C2430"/>
                </a:solidFill>
                <a:latin typeface="Arial"/>
              </a:rPr>
              <a:t>Instalaram sensores de temperatura, umidade e som em uma rede sem fio dentro de colmeias.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783080"/>
            <a:ext cx="5806440" cy="2944368"/>
          </a:xfrm>
          <a:prstGeom prst="rect">
            <a:avLst/>
          </a:prstGeom>
          <a:solidFill>
            <a:srgbClr val="FCECE8"/>
          </a:solidFill>
          <a:ln w="6350">
            <a:solidFill>
              <a:srgbClr val="FC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2103120"/>
            <a:ext cx="50474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A6F5C"/>
                </a:solidFill>
                <a:latin typeface="Arial"/>
              </a:rPr>
              <a:t>PRINCIPAL 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2633472"/>
            <a:ext cx="498348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DA6F5C"/>
                </a:solidFill>
                <a:latin typeface="Arial"/>
              </a:rPr>
              <a:t>6 colmeias · 30 dias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3474720"/>
            <a:ext cx="49377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C2430"/>
                </a:solidFill>
                <a:latin typeface="Arial"/>
              </a:rPr>
              <a:t>Nesse período, não observaram alteração nos parâmetros medidos causada pelo uso do Wi-Fi.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001768"/>
            <a:ext cx="10863072" cy="960120"/>
          </a:xfrm>
          <a:prstGeom prst="rect">
            <a:avLst/>
          </a:prstGeom>
          <a:solidFill>
            <a:srgbClr val="DA6F5C"/>
          </a:solidFill>
          <a:ln w="6350">
            <a:solidFill>
              <a:srgbClr val="DA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212080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PARA O NOSSO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5175504"/>
            <a:ext cx="82296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Usar Wi-Fi no protótipo e testar alcance, energia e estabilidade.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428232"/>
            <a:ext cx="10863072" cy="10972"/>
          </a:xfrm>
          <a:prstGeom prst="rect">
            <a:avLst/>
          </a:prstGeom>
          <a:solidFill>
            <a:srgbClr val="D2D8DF"/>
          </a:solidFill>
          <a:ln w="635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492240"/>
            <a:ext cx="10195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A6574"/>
                </a:solidFill>
                <a:latin typeface="Arial"/>
              </a:rPr>
              <a:t>Fonte: Henry et al. (2019), DOI 10.1016/j.compag.2018.11.001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A6574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A6574"/>
                </a:solidFill>
                <a:latin typeface="Arial"/>
              </a:rPr>
              <a:t>ARTIGO 6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C2430"/>
                </a:solidFill>
                <a:latin typeface="Arial"/>
              </a:rPr>
              <a:t>Raspberry Pi conta entradas e saídas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35608"/>
            <a:ext cx="960120" cy="64008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A6574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1353312"/>
            <a:ext cx="9464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39976"/>
                </a:solidFill>
                <a:latin typeface="Arial"/>
              </a:rPr>
              <a:t>Tu et al. · 2016 · Aarhus University (Dinamarca)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45262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39976"/>
                </a:solidFill>
                <a:latin typeface="Arial"/>
              </a:rPr>
              <a:t>O QUE ELES FIZERAM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4480560" cy="1719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>
                <a:solidFill>
                  <a:srgbClr val="1C2430"/>
                </a:solidFill>
                <a:latin typeface="Arial"/>
              </a:rPr>
              <a:t>Filmaram a entrada e compararam a contagem automática com contagens feitas manualmente.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783080"/>
            <a:ext cx="5806440" cy="2944368"/>
          </a:xfrm>
          <a:prstGeom prst="rect">
            <a:avLst/>
          </a:prstGeom>
          <a:solidFill>
            <a:srgbClr val="E7F6ED"/>
          </a:solidFill>
          <a:ln w="6350">
            <a:solidFill>
              <a:srgbClr val="E7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2103120"/>
            <a:ext cx="50474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39976"/>
                </a:solidFill>
                <a:latin typeface="Arial"/>
              </a:rPr>
              <a:t>PRINCIPAL 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2633472"/>
            <a:ext cx="498348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539976"/>
                </a:solidFill>
                <a:latin typeface="Arial"/>
              </a:rPr>
              <a:t>Próximo do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3474720"/>
            <a:ext cx="49377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C2430"/>
                </a:solidFill>
                <a:latin typeface="Arial"/>
              </a:rPr>
              <a:t>A contagem de abelhas atingiu R² = 0,987, mostrando forte concordância com a referência.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001768"/>
            <a:ext cx="10863072" cy="960120"/>
          </a:xfrm>
          <a:prstGeom prst="rect">
            <a:avLst/>
          </a:prstGeom>
          <a:solidFill>
            <a:srgbClr val="539976"/>
          </a:solidFill>
          <a:ln w="6350">
            <a:solidFill>
              <a:srgbClr val="539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212080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PARA O NOSSO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5175504"/>
            <a:ext cx="82296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Validar nossa câmera comparando o sistema com contagens manuais.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428232"/>
            <a:ext cx="10863072" cy="10972"/>
          </a:xfrm>
          <a:prstGeom prst="rect">
            <a:avLst/>
          </a:prstGeom>
          <a:solidFill>
            <a:srgbClr val="D2D8DF"/>
          </a:solidFill>
          <a:ln w="635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492240"/>
            <a:ext cx="10195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A6574"/>
                </a:solidFill>
                <a:latin typeface="Arial"/>
              </a:rPr>
              <a:t>Fonte: Tu et al. (2016), DOI 10.1016/j.compag.2016.01.011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A6574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A6574"/>
                </a:solidFill>
                <a:latin typeface="Arial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C2430"/>
                </a:solidFill>
                <a:latin typeface="Arial"/>
              </a:rPr>
              <a:t>Os estudos convergem para uma solução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35608"/>
            <a:ext cx="960120" cy="64008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A6574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430"/>
                </a:solidFill>
                <a:latin typeface="Arial"/>
              </a:rPr>
              <a:t>O sistema pode observar três partes da mesma história: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633472"/>
            <a:ext cx="3310128" cy="2331720"/>
          </a:xfrm>
          <a:prstGeom prst="rect">
            <a:avLst/>
          </a:prstGeom>
          <a:solidFill>
            <a:srgbClr val="E6F3FB"/>
          </a:solidFill>
          <a:ln w="6350">
            <a:solidFill>
              <a:srgbClr val="E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907792"/>
            <a:ext cx="276148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458CC4"/>
                </a:solidFill>
                <a:latin typeface="Arial"/>
              </a:rPr>
              <a:t>1. AMBIENTE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456432"/>
            <a:ext cx="2761488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0">
                <a:solidFill>
                  <a:srgbClr val="1C2430"/>
                </a:solidFill>
                <a:latin typeface="Arial"/>
              </a:rPr>
              <a:t>Temperatura e umidade ajudam a explicar mudanças na atividade.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633472"/>
            <a:ext cx="3310128" cy="2331720"/>
          </a:xfrm>
          <a:prstGeom prst="rect">
            <a:avLst/>
          </a:prstGeom>
          <a:solidFill>
            <a:srgbClr val="E7F6ED"/>
          </a:solidFill>
          <a:ln w="6350">
            <a:solidFill>
              <a:srgbClr val="E7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907792"/>
            <a:ext cx="276148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539976"/>
                </a:solidFill>
                <a:latin typeface="Arial"/>
              </a:rPr>
              <a:t>2. ENTRADA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456432"/>
            <a:ext cx="2761488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0">
                <a:solidFill>
                  <a:srgbClr val="1C2430"/>
                </a:solidFill>
                <a:latin typeface="Arial"/>
              </a:rPr>
              <a:t>A câmera mostra quantas abelhas entram e saem.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11312" y="2633472"/>
            <a:ext cx="3310128" cy="2331720"/>
          </a:xfrm>
          <a:prstGeom prst="rect">
            <a:avLst/>
          </a:prstGeom>
          <a:solidFill>
            <a:srgbClr val="FCECE8"/>
          </a:solidFill>
          <a:ln w="6350">
            <a:solidFill>
              <a:srgbClr val="FC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907792"/>
            <a:ext cx="276148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DA6F5C"/>
                </a:solidFill>
                <a:latin typeface="Arial"/>
              </a:rPr>
              <a:t>3. ACESSO REMOTO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456432"/>
            <a:ext cx="2761488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0">
                <a:solidFill>
                  <a:srgbClr val="1C2430"/>
                </a:solidFill>
                <a:latin typeface="Arial"/>
              </a:rPr>
              <a:t>A comunicação sem fio permite acompanhar os dados à distância.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413248"/>
            <a:ext cx="10863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B3754"/>
                </a:solidFill>
                <a:latin typeface="Arial"/>
              </a:rPr>
              <a:t>Som e vibração entram depois, quando tivermos sensores e dados adequados.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428232"/>
            <a:ext cx="10863072" cy="10972"/>
          </a:xfrm>
          <a:prstGeom prst="rect">
            <a:avLst/>
          </a:prstGeom>
          <a:solidFill>
            <a:srgbClr val="D2D8DF"/>
          </a:solidFill>
          <a:ln w="635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492240"/>
            <a:ext cx="10195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A6574"/>
                </a:solidFill>
                <a:latin typeface="Arial"/>
              </a:rPr>
              <a:t>Fonte: síntese de Zheng et al.; Narcia-Macias et al.; Uthoff et al.; Tashakkori et al.; Henry et al.; Tu et 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A6574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754"/>
          </a:solidFill>
          <a:ln w="6350">
            <a:solidFill>
              <a:srgbClr val="1B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CCFE0"/>
                </a:solidFill>
                <a:latin typeface="Arial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4066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"/>
              </a:rPr>
              <a:t>Nossa proposta começa simples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94560"/>
            <a:ext cx="6995160" cy="2057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Arial"/>
              </a:rPr>
              <a:t>DHT11 para medir o ambiente
ESP32-CAM para observar a entrada
Wi-Fi para enviar e armazenar os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183879" y="1051560"/>
            <a:ext cx="3337560" cy="4462272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417320"/>
            <a:ext cx="2697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B3754"/>
                </a:solidFill>
                <a:latin typeface="Arial"/>
              </a:rPr>
              <a:t>PRÓXIMO PASSO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057400"/>
            <a:ext cx="2697480" cy="21488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1B3754"/>
                </a:solidFill>
                <a:latin typeface="Arial"/>
              </a:rPr>
              <a:t>Montar o protótipo e verificar se os dados realmente ajudam a entender a atividade da colmeia.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69280"/>
            <a:ext cx="69951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DBE6F0"/>
                </a:solidFill>
                <a:latin typeface="Arial"/>
              </a:rPr>
              <a:t>A contribuição do projeto está em reunir essas informações de forma acessível e não invasiva.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92240"/>
            <a:ext cx="10195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BCCFE0"/>
                </a:solidFill>
                <a:latin typeface="Arial"/>
              </a:rPr>
              <a:t>Fontes completas: beehive-monitoring/references.bib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BCCFE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