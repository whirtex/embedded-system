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909560" cy="6858000"/>
          </a:xfrm>
          <a:prstGeom prst="rect">
            <a:avLst/>
          </a:prstGeom>
          <a:solidFill>
            <a:srgbClr val="1B3754"/>
          </a:solidFill>
          <a:ln w="6350">
            <a:solidFill>
              <a:srgbClr val="1B3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4282135" cy="6858000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30352"/>
            <a:ext cx="4389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IBM3118  |  AC4  |  REVISÃO DE LITERATURA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6629400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Arial"/>
              </a:rPr>
              <a:t>Monitoramento de Colmeias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227832"/>
            <a:ext cx="635508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0">
                <a:solidFill>
                  <a:srgbClr val="DBE6F0"/>
                </a:solidFill>
                <a:latin typeface="Arial"/>
              </a:rPr>
              <a:t>O que seis pesquisas ensinam para o nosso projeto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44768"/>
            <a:ext cx="6583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ial"/>
              </a:rPr>
              <a:t>Igor Costa  ·  Jorge Alves  ·  Ian Dias  ·  Davi Ito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17320"/>
            <a:ext cx="329184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B3754"/>
                </a:solidFill>
                <a:latin typeface="Arial"/>
              </a:rPr>
              <a:t>NOSSA PERGUNTA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57400"/>
            <a:ext cx="3154680" cy="2240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B3754"/>
                </a:solidFill>
                <a:latin typeface="Arial"/>
              </a:rPr>
              <a:t>Como acompanhar uma colmeia sem precisar abri-la o tempo todo?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6144768"/>
            <a:ext cx="3154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0">
                <a:solidFill>
                  <a:srgbClr val="1B3754"/>
                </a:solidFill>
                <a:latin typeface="Arial"/>
              </a:rPr>
              <a:t>Apresentação para a turma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1B3754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PONTO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Abrir a colmeia mostra apenas um momento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1069848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C2430"/>
                </a:solidFill>
                <a:latin typeface="Arial"/>
              </a:rPr>
              <a:t>A literatura procura formas de observar a colônia por mais tempo e com menos interferência.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29718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458CC4"/>
                </a:solidFill>
                <a:latin typeface="Arial"/>
              </a:rPr>
              <a:t>AMBIENTE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74720"/>
            <a:ext cx="297180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400" b="0">
                <a:solidFill>
                  <a:srgbClr val="1C2430"/>
                </a:solidFill>
                <a:latin typeface="Arial"/>
              </a:rPr>
              <a:t>Temperatura, umidade e condições externas.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880360"/>
            <a:ext cx="29718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539976"/>
                </a:solidFill>
                <a:latin typeface="Arial"/>
              </a:rPr>
              <a:t>MOVIMENTO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474720"/>
            <a:ext cx="297180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400" b="0">
                <a:solidFill>
                  <a:srgbClr val="1C2430"/>
                </a:solidFill>
                <a:latin typeface="Arial"/>
              </a:rPr>
              <a:t>Abelhas entrando, saindo e levando pólen.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80360"/>
            <a:ext cx="29718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000" b="1">
                <a:solidFill>
                  <a:srgbClr val="DA6F5C"/>
                </a:solidFill>
                <a:latin typeface="Arial"/>
              </a:rPr>
              <a:t>SOM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74720"/>
            <a:ext cx="2971800" cy="1143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400" b="0">
                <a:solidFill>
                  <a:srgbClr val="1C2430"/>
                </a:solidFill>
                <a:latin typeface="Arial"/>
              </a:rPr>
              <a:t>Ruídos e vibrações produzidos pela colônia.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30368"/>
            <a:ext cx="10863072" cy="566928"/>
          </a:xfrm>
          <a:prstGeom prst="rect">
            <a:avLst/>
          </a:prstGeom>
          <a:solidFill>
            <a:srgbClr val="FFF7E0"/>
          </a:solidFill>
          <a:ln w="6350">
            <a:solidFill>
              <a:srgbClr val="FFF7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367528"/>
            <a:ext cx="10378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1B3754"/>
                </a:solidFill>
                <a:latin typeface="Arial"/>
              </a:rPr>
              <a:t>Ideia central: nenhum desses sinais conta a história completa sozinho.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síntese das seis referências apresentadas a seguir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ARTIGO 1 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Sensores e câmera explicam a atividade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47088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458CC4"/>
                </a:solidFill>
                <a:latin typeface="Arial"/>
              </a:rPr>
              <a:t>O QUE ELES FIZERAM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4480560" cy="1719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0">
                <a:solidFill>
                  <a:srgbClr val="1C2430"/>
                </a:solidFill>
                <a:latin typeface="Arial"/>
              </a:rPr>
              <a:t>Mediram temperatura e umidade em vários pontos da colmeia e filmaram a entrada para acompanhar as abelhas.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5806440" cy="2944368"/>
          </a:xfrm>
          <a:prstGeom prst="rect">
            <a:avLst/>
          </a:prstGeom>
          <a:solidFill>
            <a:srgbClr val="E6F3FB"/>
          </a:solidFill>
          <a:ln w="6350">
            <a:solidFill>
              <a:srgbClr val="E6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103120"/>
            <a:ext cx="5047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458CC4"/>
                </a:solidFill>
                <a:latin typeface="Arial"/>
              </a:rPr>
              <a:t>PRINCIPAL 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633472"/>
            <a:ext cx="4983480" cy="676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458CC4"/>
                </a:solidFill>
                <a:latin typeface="Arial"/>
              </a:rPr>
              <a:t>Até 16 quadros/s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474720"/>
            <a:ext cx="49377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0">
                <a:solidFill>
                  <a:srgbClr val="1C2430"/>
                </a:solidFill>
                <a:latin typeface="Arial"/>
              </a:rPr>
              <a:t>O sistema relacionou a atividade das abelhas com chuva, temperatura e umidade.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001768"/>
            <a:ext cx="10863072" cy="960120"/>
          </a:xfrm>
          <a:prstGeom prst="rect">
            <a:avLst/>
          </a:prstGeom>
          <a:solidFill>
            <a:srgbClr val="458CC4"/>
          </a:solidFill>
          <a:ln w="6350">
            <a:solidFill>
              <a:srgbClr val="458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212080"/>
            <a:ext cx="1965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PARA O NOSSO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5175504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Combinar sensores ambientais com uma câmera na entrada.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Zheng et al. (2024), DOI 10.1016/j.atech.2024.100584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ARTIGO 2 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Câmera barata conta abelhas e pólen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47088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DA6F5C"/>
                </a:solidFill>
                <a:latin typeface="Arial"/>
              </a:rPr>
              <a:t>O QUE ELES FIZERAM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4480560" cy="1719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0">
                <a:solidFill>
                  <a:srgbClr val="1C2430"/>
                </a:solidFill>
                <a:latin typeface="Arial"/>
              </a:rPr>
              <a:t>Usaram um modelo leve de visão computacional para acompanhar abelhas, pólen e possíveis ácaros na entrada.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5806440" cy="2944368"/>
          </a:xfrm>
          <a:prstGeom prst="rect">
            <a:avLst/>
          </a:prstGeom>
          <a:solidFill>
            <a:srgbClr val="FCECE8"/>
          </a:solidFill>
          <a:ln w="6350">
            <a:solidFill>
              <a:srgbClr val="FC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103120"/>
            <a:ext cx="5047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DA6F5C"/>
                </a:solidFill>
                <a:latin typeface="Arial"/>
              </a:rPr>
              <a:t>PRINCIPAL 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633472"/>
            <a:ext cx="4983480" cy="676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DA6F5C"/>
                </a:solidFill>
                <a:latin typeface="Arial"/>
              </a:rPr>
              <a:t>96% de acerto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474720"/>
            <a:ext cx="49377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0">
                <a:solidFill>
                  <a:srgbClr val="1C2430"/>
                </a:solidFill>
                <a:latin typeface="Arial"/>
              </a:rPr>
              <a:t>A detecção de pólen foi promissora, mas a análise de Varroa ainda tinha poucos dados.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001768"/>
            <a:ext cx="10863072" cy="960120"/>
          </a:xfrm>
          <a:prstGeom prst="rect">
            <a:avLst/>
          </a:prstGeom>
          <a:solidFill>
            <a:srgbClr val="DA6F5C"/>
          </a:solidFill>
          <a:ln w="6350">
            <a:solidFill>
              <a:srgbClr val="DA6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212080"/>
            <a:ext cx="1965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PARA O NOSSO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5175504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Começar com contagem de abelhas; tratar Varroa como etapa futura.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Narcia-Macias et al. (2024), DOI 10.1109/ICMLA61862.2024.00122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ARTIGO 3 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Som e vibração indicam mudanças internas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47088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539976"/>
                </a:solidFill>
                <a:latin typeface="Arial"/>
              </a:rPr>
              <a:t>O QUE ELES FIZERAM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4480560" cy="1719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0">
                <a:solidFill>
                  <a:srgbClr val="1C2430"/>
                </a:solidFill>
                <a:latin typeface="Arial"/>
              </a:rPr>
              <a:t>Reuniram pesquisas que usam microfones e acelerômetros para estudar presença da rainha e preparação para enxameação.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5806440" cy="2944368"/>
          </a:xfrm>
          <a:prstGeom prst="rect">
            <a:avLst/>
          </a:prstGeom>
          <a:solidFill>
            <a:srgbClr val="E7F6ED"/>
          </a:solidFill>
          <a:ln w="6350">
            <a:solidFill>
              <a:srgbClr val="E7F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103120"/>
            <a:ext cx="5047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539976"/>
                </a:solidFill>
                <a:latin typeface="Arial"/>
              </a:rPr>
              <a:t>PRINCIPAL 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633472"/>
            <a:ext cx="4983480" cy="676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539976"/>
                </a:solidFill>
                <a:latin typeface="Arial"/>
              </a:rPr>
              <a:t>Sem padrão comum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474720"/>
            <a:ext cx="49377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0">
                <a:solidFill>
                  <a:srgbClr val="1C2430"/>
                </a:solidFill>
                <a:latin typeface="Arial"/>
              </a:rPr>
              <a:t>Os estudos usam poucos dados e métodos diferentes, então os resultados ainda são difíceis de comparar.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001768"/>
            <a:ext cx="10863072" cy="960120"/>
          </a:xfrm>
          <a:prstGeom prst="rect">
            <a:avLst/>
          </a:prstGeom>
          <a:solidFill>
            <a:srgbClr val="539976"/>
          </a:solidFill>
          <a:ln w="6350">
            <a:solidFill>
              <a:srgbClr val="539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212080"/>
            <a:ext cx="1965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PARA O NOSSO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5175504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Áudio pode ajudar, mas exige microfone adequado e validação própria.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Uthoff et al. (2023), DOI 10.1016/j.compag.2022.107589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ARTIGO 4 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A colmeia pode ser acompanhada pela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47088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458CC4"/>
                </a:solidFill>
                <a:latin typeface="Arial"/>
              </a:rPr>
              <a:t>O QUE ELES FIZERAM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4480560" cy="1719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0">
                <a:solidFill>
                  <a:srgbClr val="1C2430"/>
                </a:solidFill>
                <a:latin typeface="Arial"/>
              </a:rPr>
              <a:t>O Beemon reuniu temperatura, umidade, peso, áudio e vídeo e enviou os dados para visualização remota.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5806440" cy="2944368"/>
          </a:xfrm>
          <a:prstGeom prst="rect">
            <a:avLst/>
          </a:prstGeom>
          <a:solidFill>
            <a:srgbClr val="E6F3FB"/>
          </a:solidFill>
          <a:ln w="6350">
            <a:solidFill>
              <a:srgbClr val="E6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103120"/>
            <a:ext cx="5047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458CC4"/>
                </a:solidFill>
                <a:latin typeface="Arial"/>
              </a:rPr>
              <a:t>PRINCIPAL 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633472"/>
            <a:ext cx="4983480" cy="676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458CC4"/>
                </a:solidFill>
                <a:latin typeface="Arial"/>
              </a:rPr>
              <a:t>Quase em tempo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474720"/>
            <a:ext cx="49377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0">
                <a:solidFill>
                  <a:srgbClr val="1C2430"/>
                </a:solidFill>
                <a:latin typeface="Arial"/>
              </a:rPr>
              <a:t>O principal ganho foi ter uma estrutura completa de coleta, envio e armazenamento de dados.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001768"/>
            <a:ext cx="10863072" cy="960120"/>
          </a:xfrm>
          <a:prstGeom prst="rect">
            <a:avLst/>
          </a:prstGeom>
          <a:solidFill>
            <a:srgbClr val="458CC4"/>
          </a:solidFill>
          <a:ln w="6350">
            <a:solidFill>
              <a:srgbClr val="458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212080"/>
            <a:ext cx="1965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PARA O NOSSO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5175504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Enviar registros com horário para acompanhar a colmeia à distância.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Tashakkori, Hamza e Crawford (2021), DOI 10.1016/j.compag.2021.106427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ARTIGO 5 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Wi-Fi permite coletar dados no apiário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47088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DA6F5C"/>
                </a:solidFill>
                <a:latin typeface="Arial"/>
              </a:rPr>
              <a:t>O QUE ELES FIZERAM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4480560" cy="1719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0">
                <a:solidFill>
                  <a:srgbClr val="1C2430"/>
                </a:solidFill>
                <a:latin typeface="Arial"/>
              </a:rPr>
              <a:t>Instalaram sensores de temperatura, umidade e som em uma rede sem fio dentro de colmeias.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5806440" cy="2944368"/>
          </a:xfrm>
          <a:prstGeom prst="rect">
            <a:avLst/>
          </a:prstGeom>
          <a:solidFill>
            <a:srgbClr val="FCECE8"/>
          </a:solidFill>
          <a:ln w="6350">
            <a:solidFill>
              <a:srgbClr val="FC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103120"/>
            <a:ext cx="5047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DA6F5C"/>
                </a:solidFill>
                <a:latin typeface="Arial"/>
              </a:rPr>
              <a:t>PRINCIPAL 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633472"/>
            <a:ext cx="4983480" cy="676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DA6F5C"/>
                </a:solidFill>
                <a:latin typeface="Arial"/>
              </a:rPr>
              <a:t>6 colmeias · 30 dias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474720"/>
            <a:ext cx="49377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0">
                <a:solidFill>
                  <a:srgbClr val="1C2430"/>
                </a:solidFill>
                <a:latin typeface="Arial"/>
              </a:rPr>
              <a:t>Nesse período, não observaram alteração nos parâmetros medidos causada pelo uso do Wi-Fi.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001768"/>
            <a:ext cx="10863072" cy="960120"/>
          </a:xfrm>
          <a:prstGeom prst="rect">
            <a:avLst/>
          </a:prstGeom>
          <a:solidFill>
            <a:srgbClr val="DA6F5C"/>
          </a:solidFill>
          <a:ln w="6350">
            <a:solidFill>
              <a:srgbClr val="DA6F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212080"/>
            <a:ext cx="1965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PARA O NOSSO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5175504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Usar Wi-Fi no protótipo e testar alcance, energia e estabilidade.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Henry et al. (2019), DOI 10.1016/j.compag.2018.11.001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ARTIGO 6 DE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Raspberry Pi conta entradas e saídas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47088"/>
            <a:ext cx="45262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539976"/>
                </a:solidFill>
                <a:latin typeface="Arial"/>
              </a:rPr>
              <a:t>O QUE ELES FIZERAM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4480560" cy="1719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400" b="0">
                <a:solidFill>
                  <a:srgbClr val="1C2430"/>
                </a:solidFill>
                <a:latin typeface="Arial"/>
              </a:rPr>
              <a:t>Filmaram a entrada e compararam a contagem automática com contagens feitas manualmente.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0" y="1783080"/>
            <a:ext cx="5806440" cy="2944368"/>
          </a:xfrm>
          <a:prstGeom prst="rect">
            <a:avLst/>
          </a:prstGeom>
          <a:solidFill>
            <a:srgbClr val="E7F6ED"/>
          </a:solidFill>
          <a:ln w="6350">
            <a:solidFill>
              <a:srgbClr val="E7F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08192" y="2103120"/>
            <a:ext cx="5047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400" b="1">
                <a:solidFill>
                  <a:srgbClr val="539976"/>
                </a:solidFill>
                <a:latin typeface="Arial"/>
              </a:rPr>
              <a:t>PRINCIPAL RESULTADO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2633472"/>
            <a:ext cx="4983480" cy="676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400" b="1">
                <a:solidFill>
                  <a:srgbClr val="539976"/>
                </a:solidFill>
                <a:latin typeface="Arial"/>
              </a:rPr>
              <a:t>Próximo do manual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8192" y="3474720"/>
            <a:ext cx="4937760" cy="8412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100" b="0">
                <a:solidFill>
                  <a:srgbClr val="1C2430"/>
                </a:solidFill>
                <a:latin typeface="Arial"/>
              </a:rPr>
              <a:t>A contagem de abelhas atingiu R² = 0,987, mostrando forte concordância com a referência.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001768"/>
            <a:ext cx="10863072" cy="960120"/>
          </a:xfrm>
          <a:prstGeom prst="rect">
            <a:avLst/>
          </a:prstGeom>
          <a:solidFill>
            <a:srgbClr val="539976"/>
          </a:solidFill>
          <a:ln w="6350">
            <a:solidFill>
              <a:srgbClr val="5399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5212080"/>
            <a:ext cx="1965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PARA O NOSSO PROJETO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2928" y="5175504"/>
            <a:ext cx="8229600" cy="4572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rial"/>
              </a:rPr>
              <a:t>Validar nossa câmera comparando o sistema com contagens manuais.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Tu et al. (2016), DOI 10.1016/j.compag.2016.01.011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45720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1">
                <a:solidFill>
                  <a:srgbClr val="5A6574"/>
                </a:solidFill>
                <a:latin typeface="Arial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85800"/>
            <a:ext cx="106984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500" b="1">
                <a:solidFill>
                  <a:srgbClr val="1C2430"/>
                </a:solidFill>
                <a:latin typeface="Arial"/>
              </a:rPr>
              <a:t>Os estudos convergem para uma solução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35608"/>
            <a:ext cx="960120" cy="64008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320040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100" b="1">
                <a:solidFill>
                  <a:srgbClr val="5A6574"/>
                </a:solidFill>
                <a:latin typeface="Arial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C2430"/>
                </a:solidFill>
                <a:latin typeface="Arial"/>
              </a:rPr>
              <a:t>O sistema pode observar três partes da mesma história: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33472"/>
            <a:ext cx="3310128" cy="2331720"/>
          </a:xfrm>
          <a:prstGeom prst="rect">
            <a:avLst/>
          </a:prstGeom>
          <a:solidFill>
            <a:srgbClr val="E6F3FB"/>
          </a:solidFill>
          <a:ln w="6350">
            <a:solidFill>
              <a:srgbClr val="E6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907792"/>
            <a:ext cx="276148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458CC4"/>
                </a:solidFill>
                <a:latin typeface="Arial"/>
              </a:rPr>
              <a:t>1. AMBIENTE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456432"/>
            <a:ext cx="2761488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300" b="0">
                <a:solidFill>
                  <a:srgbClr val="1C2430"/>
                </a:solidFill>
                <a:latin typeface="Arial"/>
              </a:rPr>
              <a:t>Temperatura e umidade ajudam a explicar mudanças na atividade.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633472"/>
            <a:ext cx="3310128" cy="2331720"/>
          </a:xfrm>
          <a:prstGeom prst="rect">
            <a:avLst/>
          </a:prstGeom>
          <a:solidFill>
            <a:srgbClr val="E7F6ED"/>
          </a:solidFill>
          <a:ln w="6350">
            <a:solidFill>
              <a:srgbClr val="E7F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907792"/>
            <a:ext cx="276148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539976"/>
                </a:solidFill>
                <a:latin typeface="Arial"/>
              </a:rPr>
              <a:t>2. ENTRADA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456432"/>
            <a:ext cx="2761488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300" b="0">
                <a:solidFill>
                  <a:srgbClr val="1C2430"/>
                </a:solidFill>
                <a:latin typeface="Arial"/>
              </a:rPr>
              <a:t>A câmera mostra quantas abelhas entram e saem.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1312" y="2633472"/>
            <a:ext cx="3310128" cy="2331720"/>
          </a:xfrm>
          <a:prstGeom prst="rect">
            <a:avLst/>
          </a:prstGeom>
          <a:solidFill>
            <a:srgbClr val="FCECE8"/>
          </a:solidFill>
          <a:ln w="6350">
            <a:solidFill>
              <a:srgbClr val="FCE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5632" y="2907792"/>
            <a:ext cx="276148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DA6F5C"/>
                </a:solidFill>
                <a:latin typeface="Arial"/>
              </a:rPr>
              <a:t>3. ACESSO REMOTO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5632" y="3456432"/>
            <a:ext cx="2761488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300" b="0">
                <a:solidFill>
                  <a:srgbClr val="1C2430"/>
                </a:solidFill>
                <a:latin typeface="Arial"/>
              </a:rPr>
              <a:t>A comunicação sem fio permite acompanhar os dados à distância.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413248"/>
            <a:ext cx="10863072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200" b="1">
                <a:solidFill>
                  <a:srgbClr val="1B3754"/>
                </a:solidFill>
                <a:latin typeface="Arial"/>
              </a:rPr>
              <a:t>Som e vibração entram depois, quando tivermos sensores e dados adequados.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428232"/>
            <a:ext cx="10863072" cy="10972"/>
          </a:xfrm>
          <a:prstGeom prst="rect">
            <a:avLst/>
          </a:prstGeom>
          <a:solidFill>
            <a:srgbClr val="D2D8DF"/>
          </a:solidFill>
          <a:ln w="6350">
            <a:solidFill>
              <a:srgbClr val="D2D8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5A6574"/>
                </a:solidFill>
                <a:latin typeface="Arial"/>
              </a:rPr>
              <a:t>Fonte: síntese de Zheng et al.; Narcia-Macias et al.; Uthoff et al.; Tashakkori et al.; Henry et al.; Tu et 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5A6574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754"/>
          </a:solidFill>
          <a:ln w="6350">
            <a:solidFill>
              <a:srgbClr val="1B3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38912"/>
            <a:ext cx="4389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BCCFE0"/>
                </a:solidFill>
                <a:latin typeface="Arial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740664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rial"/>
              </a:rPr>
              <a:t>Nossa proposta começa simples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6995160" cy="2057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Arial"/>
              </a:rPr>
              <a:t>DHT11 para medir o ambiente
ESP32-CAM para observar a entrada
Wi-Fi para enviar e armazenar os 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79" y="1051560"/>
            <a:ext cx="3337560" cy="4462272"/>
          </a:xfrm>
          <a:prstGeom prst="rect">
            <a:avLst/>
          </a:prstGeom>
          <a:solidFill>
            <a:srgbClr val="F4B740"/>
          </a:solidFill>
          <a:ln w="6350">
            <a:solidFill>
              <a:srgbClr val="F4B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0" y="1417320"/>
            <a:ext cx="26974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500" b="1">
                <a:solidFill>
                  <a:srgbClr val="1B3754"/>
                </a:solidFill>
                <a:latin typeface="Arial"/>
              </a:rPr>
              <a:t>PRÓXIMO PASSO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2057400"/>
            <a:ext cx="2697480" cy="21488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2500" b="1">
                <a:solidFill>
                  <a:srgbClr val="1B3754"/>
                </a:solidFill>
                <a:latin typeface="Arial"/>
              </a:rPr>
              <a:t>Montar o protótipo e verificar se os dados realmente ajudam a entender a atividade da colmeia.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669280"/>
            <a:ext cx="699516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DBE6F0"/>
                </a:solidFill>
                <a:latin typeface="Arial"/>
              </a:rPr>
              <a:t>A contribuição do projeto está em reunir essas informações de forma acessível e não invasiva.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92240"/>
            <a:ext cx="1019556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0">
                <a:solidFill>
                  <a:srgbClr val="BCCFE0"/>
                </a:solidFill>
                <a:latin typeface="Arial"/>
              </a:rPr>
              <a:t>Fontes completas: beehive-monitoring/references.bib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18520" y="6492240"/>
            <a:ext cx="5029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900" b="0">
                <a:solidFill>
                  <a:srgbClr val="BCCFE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