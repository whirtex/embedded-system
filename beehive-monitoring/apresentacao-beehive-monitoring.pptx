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IBMEC BARRA  •  SISTEMAS EMBARCADOS  •  G4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11827"/>
                </a:solidFill>
                <a:latin typeface="Helvetica Neue"/>
              </a:defRPr>
            </a:pPr>
            <a:r>
              <a:t>Monitoramento de Colmeias</a:t>
            </a:r>
          </a:p>
          <a:p>
            <a:pPr>
              <a:spcBef>
                <a:spcPts val="800"/>
              </a:spcBef>
              <a:defRPr sz="2400" b="1">
                <a:solidFill>
                  <a:srgbClr val="D97706"/>
                </a:solidFill>
                <a:latin typeface="Helvetica Neue"/>
              </a:defRPr>
            </a:pPr>
            <a:r>
              <a:t>com Sistema Embarcado de Baixo Custo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Helvetica Neue"/>
              </a:defRPr>
            </a:pPr>
            <a:r>
              <a:t>Revisão de Literatura e Proposta do Projeto</a:t>
            </a:r>
          </a:p>
          <a:p>
            <a:pPr>
              <a:spcBef>
                <a:spcPts val="400"/>
              </a:spcBef>
              <a:defRPr sz="1300">
                <a:solidFill>
                  <a:srgbClr val="4B5563"/>
                </a:solidFill>
                <a:latin typeface="Helvetica Neue"/>
              </a:defRPr>
            </a:pPr>
            <a:r>
              <a:t>Seminário 1  •  Disciplina IBM3118 (2026.2)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Helvetica Neue"/>
              </a:defRPr>
            </a:pPr>
            <a:r>
              <a:t>INTEGRANTES DO GRUPO 4:</a:t>
            </a:r>
          </a:p>
          <a:p>
            <a:pPr>
              <a:spcBef>
                <a:spcPts val="600"/>
              </a:spcBef>
              <a:defRPr sz="1500" b="1">
                <a:solidFill>
                  <a:srgbClr val="111827"/>
                </a:solidFill>
                <a:latin typeface="Helvetica Neue"/>
              </a:defRPr>
            </a:pPr>
            <a:r>
              <a:t>Igor Costa   •   Jorge Alves   •   Ian Dias   •   Davi Ito</a:t>
            </a:r>
          </a:p>
        </p:txBody>
      </p:sp>
      <p:pic>
        <p:nvPicPr>
          <p:cNvPr id="7" name="Picture 6" descr="beehiv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05840"/>
            <a:ext cx="4693615" cy="26415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3931920"/>
            <a:ext cx="46936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PROTÓTIPO EM DESENVOLVIMENTO</a:t>
            </a:r>
          </a:p>
          <a:p>
            <a:pPr>
              <a:spcBef>
                <a:spcPts val="500"/>
              </a:spcBef>
              <a:defRPr sz="1250">
                <a:solidFill>
                  <a:srgbClr val="4B5563"/>
                </a:solidFill>
                <a:latin typeface="Helvetica Neue"/>
              </a:defRPr>
            </a:pPr>
            <a:r>
              <a:t>Arquitetura não invasiva combinando sensores ambientais, visão computacional na entrada e telemetria IoT em nuvem.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PROPOSTA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76753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1100" b="1">
                <a:solidFill>
                  <a:srgbClr val="9CA3AF"/>
                </a:solidFill>
                <a:latin typeface="Helvetica Neue"/>
              </a:defRPr>
            </a:pPr>
            <a:r>
              <a:t>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Helvetica Neue"/>
              </a:defRPr>
            </a:pPr>
            <a:r>
              <a:t>Acompanhar a saúde da colmeia sem precisar abri-la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Helvetica Neue"/>
              </a:defRPr>
            </a:pPr>
            <a:r>
              <a:t>Arquitetura não invasiva combinando sensores ambientais, visão computacional e telemetria IoT.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4688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MEDIÇÃO AMBIENTAL</a:t>
            </a:r>
          </a:p>
          <a:p>
            <a:pPr>
              <a:spcBef>
                <a:spcPts val="200"/>
              </a:spcBef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Microclima do Ninho</a:t>
            </a:r>
          </a:p>
          <a:p>
            <a:pPr>
              <a:spcBef>
                <a:spcPts val="6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Temperatura e umidade relativa (interior e exterior).</a:t>
            </a:r>
          </a:p>
          <a:p>
            <a:pPr>
              <a:spcBef>
                <a:spcPts val="6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Detecção de variações térmicas anômalas sem intervenção humana.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011680"/>
            <a:ext cx="24688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800" b="1">
                <a:solidFill>
                  <a:srgbClr val="0D9488"/>
                </a:solidFill>
                <a:latin typeface="Helvetica Neue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VISÃO COMPUTACIONAL</a:t>
            </a:r>
          </a:p>
          <a:p>
            <a:pPr>
              <a:spcBef>
                <a:spcPts val="200"/>
              </a:spcBef>
              <a:defRPr sz="1200" b="1">
                <a:solidFill>
                  <a:srgbClr val="0D9488"/>
                </a:solidFill>
                <a:latin typeface="Helvetica Neue"/>
              </a:defRPr>
            </a:pPr>
            <a:r>
              <a:t>Atividade na Entrada</a:t>
            </a:r>
          </a:p>
          <a:p>
            <a:pPr>
              <a:spcBef>
                <a:spcPts val="6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Câmera voltada para a entrada da colmeia.</a:t>
            </a:r>
          </a:p>
          <a:p>
            <a:pPr>
              <a:spcBef>
                <a:spcPts val="6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Contagem contínua de fluxo e modelos leves na borda (Edge AI).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800" b="1">
                <a:solidFill>
                  <a:srgbClr val="0D9488"/>
                </a:solidFill>
                <a:latin typeface="Helvetica Neue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SENSORES ACÚSTICOS</a:t>
            </a:r>
          </a:p>
          <a:p>
            <a:pPr>
              <a:spcBef>
                <a:spcPts val="200"/>
              </a:spcBef>
              <a:defRPr sz="1200" b="1">
                <a:solidFill>
                  <a:srgbClr val="0D9488"/>
                </a:solidFill>
                <a:latin typeface="Helvetica Neue"/>
              </a:defRPr>
            </a:pPr>
            <a:r>
              <a:t>Sinais Vibroacústicos</a:t>
            </a:r>
          </a:p>
          <a:p>
            <a:pPr>
              <a:spcBef>
                <a:spcPts val="6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Captação não invasiva de áudio e vibração interna.</a:t>
            </a:r>
          </a:p>
          <a:p>
            <a:pPr>
              <a:spcBef>
                <a:spcPts val="6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Investigação de padrões de enxameação e presença da rainha.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011680"/>
            <a:ext cx="24688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TELEMETRIA &amp; IOT</a:t>
            </a:r>
          </a:p>
          <a:p>
            <a:pPr>
              <a:spcBef>
                <a:spcPts val="200"/>
              </a:spcBef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Dados em Tempo Real</a:t>
            </a:r>
          </a:p>
          <a:p>
            <a:pPr>
              <a:spcBef>
                <a:spcPts val="6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Transmissão eficiente via protocolo leve MQTT.</a:t>
            </a:r>
          </a:p>
          <a:p>
            <a:pPr>
              <a:spcBef>
                <a:spcPts val="6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Dashboard interativo com histórico unificado e data/hora.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0936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4114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Helvetica Neue"/>
              </a:defRPr>
            </a:pPr>
            <a:r>
              <a:t>GRUPO 4  •  IBMEC BARRA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382512"/>
            <a:ext cx="6796735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Helvetica Neue"/>
              </a:defRPr>
            </a:pPr>
            <a:r>
              <a:t>Base tecnológica: Sistemas Embarcados &amp; Internet das Coisas (IoT)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REFERÊNCIA 1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76753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1100" b="1">
                <a:solidFill>
                  <a:srgbClr val="9CA3AF"/>
                </a:solidFill>
                <a:latin typeface="Helvetica Neue"/>
              </a:defRPr>
            </a:pPr>
            <a:r>
              <a:t>03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Helvetica Neue"/>
              </a:defRPr>
            </a:pPr>
            <a:r>
              <a:t>Zheng et al.  • 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Helvetica Neue"/>
              </a:defRPr>
            </a:pPr>
            <a:r>
              <a:t>Sensores multimodais e câmera para rastreamento de atividade da colmeia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217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METODOLOGIA &amp; IMPLEMENTAÇÃO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Sensores de temperatura e umidade distribuídos (centro, margem, entrada e externo).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Sensor de som interno e webcam posicionada na entrada da colmeia.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Pipeline YOLOv5 + DeepSORT para detecção e rastreamento de múltiplas abelhas.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39620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Helvetica Neue"/>
              </a:defRPr>
            </a:pPr>
            <a:r>
              <a:t>RESULTADOS DE DESTAQUE</a:t>
            </a:r>
          </a:p>
          <a:p>
            <a:pPr>
              <a:spcBef>
                <a:spcPts val="600"/>
              </a:spcBef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83,5% MOTA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Acurácia de rastreamento de múltiplos objetos</a:t>
            </a:r>
          </a:p>
          <a:p>
            <a:pPr>
              <a:spcBef>
                <a:spcPts val="1000"/>
              </a:spcBef>
              <a:defRPr sz="2200" b="1">
                <a:solidFill>
                  <a:srgbClr val="0D9488"/>
                </a:solidFill>
                <a:latin typeface="Helvetica Neue"/>
              </a:defRPr>
            </a:pPr>
            <a:r>
              <a:t>77,3% MOTP  •  16 FPS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Precisão de localização e velocidade de inferência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1054577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O QUE LEVAMOS PARA O PROJETO: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Valida a estratégia de combinar imagens da entrada com variáveis ambientais para avaliar a colônia sem intervenções invasivas.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0936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4114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Helvetica Neue"/>
              </a:defRPr>
            </a:pPr>
            <a:r>
              <a:t>GRUPO 4  •  IBMEC BARRA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382512"/>
            <a:ext cx="6796735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Helvetica Neue"/>
              </a:defRPr>
            </a:pPr>
            <a:r>
              <a:t>Fonte: Smart Agricultural Technology, v. 9, 2024  •  DOI 10.1016/j.atech.2024.100584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REFERÊNCIA 2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76753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1100" b="1">
                <a:solidFill>
                  <a:srgbClr val="9CA3AF"/>
                </a:solidFill>
                <a:latin typeface="Helvetica Neue"/>
              </a:defRPr>
            </a:pPr>
            <a:r>
              <a:t>04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Helvetica Neue"/>
              </a:defRPr>
            </a:pPr>
            <a:r>
              <a:t>Narcia-Macias et al.  • 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Helvetica Neue"/>
              </a:defRPr>
            </a:pPr>
            <a:r>
              <a:t>IntelliBeeHive: Solução de baixo custo para rastreamento de abelhas e pólen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217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METODOLOGIA &amp; IMPLEMENTAÇÃO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Câmera voltada diretamente para a entrada da colmeia.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Modelo leve YOLOv7-tiny otimizado para hardware com recursos limitados.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Detecção automatizada de fluxo de operárias e grãos de pólen transportados.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39620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Helvetica Neue"/>
              </a:defRPr>
            </a:pPr>
            <a:r>
              <a:t>RESULTADOS DE DESTAQUE</a:t>
            </a:r>
          </a:p>
          <a:p>
            <a:pPr>
              <a:spcBef>
                <a:spcPts val="600"/>
              </a:spcBef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96,28%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Acurácia global no rastreamento de abelhas</a:t>
            </a:r>
          </a:p>
          <a:p>
            <a:pPr>
              <a:spcBef>
                <a:spcPts val="1000"/>
              </a:spcBef>
              <a:defRPr sz="2200" b="1">
                <a:solidFill>
                  <a:srgbClr val="0D9488"/>
                </a:solidFill>
                <a:latin typeface="Helvetica Neue"/>
              </a:defRPr>
            </a:pPr>
            <a:r>
              <a:t>F1 = 0,8319 (Pólen)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Detecção de Varroa tratada como Prova de Conceito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1054577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O QUE LEVAMOS PARA O PROJETO: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Demonstra a viabilidade de modelos leves na borda, mantendo a detecção de Varroa como prova de conceito até validação com dados reais.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0936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4114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Helvetica Neue"/>
              </a:defRPr>
            </a:pPr>
            <a:r>
              <a:t>GRUPO 4  •  IBMEC BARRA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382512"/>
            <a:ext cx="6796735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Helvetica Neue"/>
              </a:defRPr>
            </a:pPr>
            <a:r>
              <a:t>Fonte: IEEE ICMLA 2024, p. 845–850  •  DOI 10.1109/ICMLA61862.2024.00122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REFERÊNCIA 3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76753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1100" b="1">
                <a:solidFill>
                  <a:srgbClr val="9CA3AF"/>
                </a:solidFill>
                <a:latin typeface="Helvetica Neue"/>
              </a:defRPr>
            </a:pPr>
            <a:r>
              <a:t>05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Helvetica Neue"/>
              </a:defRPr>
            </a:pPr>
            <a:r>
              <a:t>Uthoff et al.  • 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Helvetica Neue"/>
              </a:defRPr>
            </a:pPr>
            <a:r>
              <a:t>Sensoriamento acústico e vibracional para detecção de rainha e enxameação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217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METODOLOGIA &amp; IMPLEMENTAÇÃO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Revisão sistemática sobre o uso de microfones e acelerômetros em colmeias.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Identificação de padrões acústicos ligados à presença da rainha e preparação de enxame.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Coleta contínua de sinais vibroacústicos sem necessidade de abrir a colmeia.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39620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Helvetica Neue"/>
              </a:defRPr>
            </a:pPr>
            <a:r>
              <a:t>RESULTADOS DE DESTAQUE</a:t>
            </a:r>
          </a:p>
          <a:p>
            <a:pPr>
              <a:spcBef>
                <a:spcPts val="600"/>
              </a:spcBef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SINAIS NÃO INVASIVOS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Promissor para prever enxameação e presença da rainha</a:t>
            </a:r>
          </a:p>
          <a:p>
            <a:pPr>
              <a:spcBef>
                <a:spcPts val="1000"/>
              </a:spcBef>
              <a:defRPr sz="2200" b="1">
                <a:solidFill>
                  <a:srgbClr val="0D9488"/>
                </a:solidFill>
                <a:latin typeface="Helvetica Neue"/>
              </a:defRPr>
            </a:pPr>
            <a:r>
              <a:t>DESAFIO METODOLÓGICO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Datasets pequenos e procedimentos ainda não padronizados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1054577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O QUE LEVAMOS PARA O PROJETO: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Áudio e vibração são tratados como sinais experimentais complementares, que devem ser validados junto com os sensores de temperatura e umidade.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0936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4114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Helvetica Neue"/>
              </a:defRPr>
            </a:pPr>
            <a:r>
              <a:t>GRUPO 4  •  IBMEC BARRA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382512"/>
            <a:ext cx="6796735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Helvetica Neue"/>
              </a:defRPr>
            </a:pPr>
            <a:r>
              <a:t>Fonte: Computers and Electronics in Agriculture, v. 205, 2023  •  DOI 10.1016/j.compag.2022.107589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REFERÊNCIA 4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76753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1100" b="1">
                <a:solidFill>
                  <a:srgbClr val="9CA3AF"/>
                </a:solidFill>
                <a:latin typeface="Helvetica Neue"/>
              </a:defRPr>
            </a:pPr>
            <a:r>
              <a:t>06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Helvetica Neue"/>
              </a:defRPr>
            </a:pPr>
            <a:r>
              <a:t>Tashakkori, Hamza e Crawford  • 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Helvetica Neue"/>
              </a:defRPr>
            </a:pPr>
            <a:r>
              <a:t>Beemon: Arquitetura IoT integrada com telemetria contínua e nuvem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217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METODOLOGIA &amp; IMPLEMENTAÇÃO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Coleta multissensorial completa: temperatura, umidade, balança de peso, áudio e vídeo.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Comunicação baseada no protocolo leve MQTT para telemetria em tempo real.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Painel de controle centralizado no ThingsBoard e armazenamento em nuvem.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39620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Helvetica Neue"/>
              </a:defRPr>
            </a:pPr>
            <a:r>
              <a:t>RESULTADOS DE DESTAQUE</a:t>
            </a:r>
          </a:p>
          <a:p>
            <a:pPr>
              <a:spcBef>
                <a:spcPts val="600"/>
              </a:spcBef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5 MODALIDADES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Temperatura, umidade, peso, som e vídeo integrados</a:t>
            </a:r>
          </a:p>
          <a:p>
            <a:pPr>
              <a:spcBef>
                <a:spcPts val="1000"/>
              </a:spcBef>
              <a:defRPr sz="2200" b="1">
                <a:solidFill>
                  <a:srgbClr val="0D9488"/>
                </a:solidFill>
                <a:latin typeface="Helvetica Neue"/>
              </a:defRPr>
            </a:pPr>
            <a:r>
              <a:t>TELEMETRIA EM NUVEM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Acesso remoto e histórico unificado para análise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1054577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O QUE LEVAMOS PARA O PROJETO: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Orienta a cadeia de dados do projeto: aquisição nos sensores, processamento embarcado, transporte MQTT e visualização em dashboard.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0936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4114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Helvetica Neue"/>
              </a:defRPr>
            </a:pPr>
            <a:r>
              <a:t>GRUPO 4  •  IBMEC BARRA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382512"/>
            <a:ext cx="6796735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Helvetica Neue"/>
              </a:defRPr>
            </a:pPr>
            <a:r>
              <a:t>Fonte: Computers and Electronics in Agriculture, v. 190, 2021  •  DOI 10.1016/j.compag.2021.106427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REFERÊNCIA 5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76753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1100" b="1">
                <a:solidFill>
                  <a:srgbClr val="9CA3AF"/>
                </a:solidFill>
                <a:latin typeface="Helvetica Neue"/>
              </a:defRPr>
            </a:pPr>
            <a:r>
              <a:t>07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Helvetica Neue"/>
              </a:defRPr>
            </a:pPr>
            <a:r>
              <a:t>Henry et al.  • 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Helvetica Neue"/>
              </a:defRPr>
            </a:pPr>
            <a:r>
              <a:t>Rede de sensores sem fio (WSN) para monitoramento em apiários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217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METODOLOGIA &amp; IMPLEMENTAÇÃO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Implantação de nós sensores sem fio instalados no interior das colmeias.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Monitoramento contínuo de temperatura interna, umidade relativa e acústica.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Análise de séries temporais para detectar anomalias térmicas e estresse na colônia.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39620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Helvetica Neue"/>
              </a:defRPr>
            </a:pPr>
            <a:r>
              <a:t>RESULTADOS DE DESTAQUE</a:t>
            </a:r>
          </a:p>
          <a:p>
            <a:pPr>
              <a:spcBef>
                <a:spcPts val="600"/>
              </a:spcBef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REDE SEM FIO (WSN)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Monitoramento distribuído em escala sem perturbar o ninho</a:t>
            </a:r>
          </a:p>
          <a:p>
            <a:pPr>
              <a:spcBef>
                <a:spcPts val="1000"/>
              </a:spcBef>
              <a:defRPr sz="2200" b="1">
                <a:solidFill>
                  <a:srgbClr val="0D9488"/>
                </a:solidFill>
                <a:latin typeface="Helvetica Neue"/>
              </a:defRPr>
            </a:pPr>
            <a:r>
              <a:t>SÉRIES TEMPORAIS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Detecção precoce de alterações térmicas no ninho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1054577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O QUE LEVAMOS PARA O PROJETO: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Reforça a importância de registrar data/hora precisas, garantir a estabilidade do link sem fio e mapear possíveis perdas de pacotes.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0936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4114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Helvetica Neue"/>
              </a:defRPr>
            </a:pPr>
            <a:r>
              <a:t>GRUPO 4  •  IBMEC BARRA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382512"/>
            <a:ext cx="6796735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Helvetica Neue"/>
              </a:defRPr>
            </a:pPr>
            <a:r>
              <a:t>Fonte: Computers and Electronics in Agriculture, v. 156, 2019  •  DOI 10.1016/j.compag.2018.11.001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REFERÊNCIA 6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76753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1100" b="1">
                <a:solidFill>
                  <a:srgbClr val="9CA3AF"/>
                </a:solidFill>
                <a:latin typeface="Helvetica Neue"/>
              </a:defRPr>
            </a:pPr>
            <a:r>
              <a:t>08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Helvetica Neue"/>
              </a:defRPr>
            </a:pPr>
            <a:r>
              <a:t>Tu et al.  •  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Helvetica Neue"/>
              </a:defRPr>
            </a:pPr>
            <a:r>
              <a:t>Visão computacional leve na Raspberry Pi para fluxo de entrada e saída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217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METODOLOGIA &amp; IMPLEMENTAÇÃO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Câmera posicionada na entrada acoplada diretamente a uma Raspberry Pi.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Algoritmo clássico de subtração de fundo para contagem sem exigir hardware pesado.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Helvetica Neue"/>
              </a:defRPr>
            </a:pPr>
            <a:r>
              <a:t>•  Estimativa do fluxo bidirecional de abelhas (taxa de entrada vs. taxa de saída).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39620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Helvetica Neue"/>
              </a:defRPr>
            </a:pPr>
            <a:r>
              <a:t>RESULTADOS DE DESTAQUE</a:t>
            </a:r>
          </a:p>
          <a:p>
            <a:pPr>
              <a:spcBef>
                <a:spcPts val="600"/>
              </a:spcBef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R² = 0,987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Para contagem total de abelhas</a:t>
            </a:r>
          </a:p>
          <a:p>
            <a:pPr>
              <a:spcBef>
                <a:spcPts val="1000"/>
              </a:spcBef>
              <a:defRPr sz="2200" b="1">
                <a:solidFill>
                  <a:srgbClr val="0D9488"/>
                </a:solidFill>
                <a:latin typeface="Helvetica Neue"/>
              </a:defRPr>
            </a:pPr>
            <a:r>
              <a:t>R² = 0,953 / 0,888</a:t>
            </a:r>
          </a:p>
          <a:p>
            <a:pPr>
              <a:spcBef>
                <a:spcPts val="1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Para fluxo de entrada (0,953) e saída (0,888)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1054577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O QUE LEVAMOS PARA O PROJETO: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Comprova a viabilidade de algoritmos leves na borda e motiva a validação inicial com contagens manuais anotadas como referência.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0936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4114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Helvetica Neue"/>
              </a:defRPr>
            </a:pPr>
            <a:r>
              <a:t>GRUPO 4  •  IBMEC BARRA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382512"/>
            <a:ext cx="6796735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Helvetica Neue"/>
              </a:defRPr>
            </a:pPr>
            <a:r>
              <a:t>Fonte: Computers and Electronics in Agriculture, v. 122, 2016  •  DOI 10.1016/j.compag.2016.01.011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Helvetica Neue"/>
              </a:defRPr>
            </a:pPr>
            <a:r>
              <a:t>SÍNTESE &amp;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76753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1100" b="1">
                <a:solidFill>
                  <a:srgbClr val="9CA3AF"/>
                </a:solidFill>
                <a:latin typeface="Helvetica Neue"/>
              </a:defRPr>
            </a:pPr>
            <a:r>
              <a:t>09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Helvetica Neue"/>
              </a:defRPr>
            </a:pPr>
            <a:r>
              <a:t>Monitoramento Contínuo, Não Invasivo e de Baixo Custo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Helvetica Neue"/>
              </a:defRPr>
            </a:pPr>
            <a:r>
              <a:t>Diretrizes consolidadas a partir da revisão de literatura para o protótipo do Grupo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291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HARDWARE ACESSÍVEL</a:t>
            </a:r>
          </a:p>
          <a:p>
            <a:pPr>
              <a:spcBef>
                <a:spcPts val="200"/>
              </a:spcBef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Foco em Eficiência e Custo</a:t>
            </a:r>
          </a:p>
          <a:p>
            <a:pPr>
              <a:spcBef>
                <a:spcPts val="5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Microcontroladores de baixo custo (Raspberry Pi / ESP32).</a:t>
            </a:r>
          </a:p>
          <a:p>
            <a:pPr>
              <a:spcBef>
                <a:spcPts val="5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Sensores modulares de temperatura, umidade e som.</a:t>
            </a:r>
          </a:p>
          <a:p>
            <a:pPr>
              <a:spcBef>
                <a:spcPts val="5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Otimização para baixo consumo de energia.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3984" y="2011680"/>
            <a:ext cx="3291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800" b="1">
                <a:solidFill>
                  <a:srgbClr val="0D9488"/>
                </a:solidFill>
                <a:latin typeface="Helvetica Neue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ABORDAGEM MULTIMODAL</a:t>
            </a:r>
          </a:p>
          <a:p>
            <a:pPr>
              <a:spcBef>
                <a:spcPts val="200"/>
              </a:spcBef>
              <a:defRPr sz="1200" b="1">
                <a:solidFill>
                  <a:srgbClr val="0D9488"/>
                </a:solidFill>
                <a:latin typeface="Helvetica Neue"/>
              </a:defRPr>
            </a:pPr>
            <a:r>
              <a:t>Cruzamento de Dados</a:t>
            </a:r>
          </a:p>
          <a:p>
            <a:pPr>
              <a:spcBef>
                <a:spcPts val="5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Combinação de microclima interno e visão na entrada.</a:t>
            </a:r>
          </a:p>
          <a:p>
            <a:pPr>
              <a:spcBef>
                <a:spcPts val="5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Sinais acústicos como evidência experimental.</a:t>
            </a:r>
          </a:p>
          <a:p>
            <a:pPr>
              <a:spcBef>
                <a:spcPts val="5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Evita alarmes falsos de sensores isolados.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2011680"/>
            <a:ext cx="3291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Helvetica Neue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TELEMETRIA &amp; IOT</a:t>
            </a:r>
          </a:p>
          <a:p>
            <a:pPr>
              <a:spcBef>
                <a:spcPts val="200"/>
              </a:spcBef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t>Dados Confiáveis em Nuvem</a:t>
            </a:r>
          </a:p>
          <a:p>
            <a:pPr>
              <a:spcBef>
                <a:spcPts val="5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Comunicação leve via protocolo MQTT.</a:t>
            </a:r>
          </a:p>
          <a:p>
            <a:pPr>
              <a:spcBef>
                <a:spcPts val="5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Dashboard interativo para acompanhamento remoto.</a:t>
            </a:r>
          </a:p>
          <a:p>
            <a:pPr>
              <a:spcBef>
                <a:spcPts val="500"/>
              </a:spcBef>
              <a:defRPr sz="1200">
                <a:solidFill>
                  <a:srgbClr val="4B5563"/>
                </a:solidFill>
                <a:latin typeface="Helvetica Neue"/>
              </a:defRPr>
            </a:pPr>
            <a:r>
              <a:t>• Preservação dos dados brutos com data e hora.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937760"/>
            <a:ext cx="1054577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200" b="1">
                <a:solidFill>
                  <a:srgbClr val="D97706"/>
                </a:solidFill>
                <a:latin typeface="Helvetica Neue"/>
              </a:defRPr>
            </a:pPr>
            <a:r>
              <a:t>Obrigado!  •  Perguntas e Discussão 🐝</a:t>
            </a:r>
          </a:p>
          <a:p>
            <a:pPr>
              <a:spcBef>
                <a:spcPts val="600"/>
              </a:spcBef>
              <a:defRPr sz="1300" b="1">
                <a:solidFill>
                  <a:srgbClr val="111827"/>
                </a:solidFill>
                <a:latin typeface="Helvetica Neue"/>
              </a:defRPr>
            </a:pPr>
            <a:r>
              <a:t>Grupo 4 (IBMEC Barra): Igor Costa  •  Jorge Alves  •  Ian Dias  •  Davi 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30936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4114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Helvetica Neue"/>
              </a:defRPr>
            </a:pPr>
            <a:r>
              <a:t>GRUPO 4  •  IBMEC BARRA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382512"/>
            <a:ext cx="6796735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Helvetica Neue"/>
              </a:defRPr>
            </a:pPr>
            <a:r>
              <a:t>Projeto Beehive Monitoring  •  IBM3118 Sistemas Embarcados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