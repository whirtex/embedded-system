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5120640"/>
            <a:ext cx="256032" cy="1737360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6E8C"/>
                </a:solidFill>
                <a:latin typeface="Arial"/>
              </a:rPr>
              <a:t>SEMINÁRIO 1 · TRABALHOS RELACIONADOS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57400"/>
            <a:ext cx="9692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6202A"/>
                </a:solidFill>
                <a:latin typeface="Arial"/>
              </a:rPr>
              <a:t>Manutenção preditiva de aparelhos de ar-condicionado em operação contínua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977639"/>
            <a:ext cx="1463040" cy="45720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71600" y="43434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Igor Costa · Jorge Alves · Ian Dias · Davi Ito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900" b="0">
                <a:solidFill>
                  <a:srgbClr val="5A6B7A"/>
                </a:solidFill>
                <a:latin typeface="Arial"/>
              </a:rPr>
              <a:t>Ibmec, Rio de Janeiro · IBM3118 · 2026.2 · Grupo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MOTIVAÇÃO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6202A"/>
                </a:solidFill>
                <a:latin typeface="Arial"/>
              </a:rPr>
              <a:t>Começou pelas áreas com pacientes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463040" cy="45720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Aparelhos instalados nos ambientes onde há paciente o tempo todo.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97480"/>
            <a:ext cx="3362858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3362858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28142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6202A"/>
                </a:solidFill>
                <a:latin typeface="Arial"/>
              </a:rPr>
              <a:t>Enfermarias e quartos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28142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O aparelho fica ligado dia e noite. Parar significa remanejar quem está internado.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4418" y="2697480"/>
            <a:ext cx="3362858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414418" y="2697480"/>
            <a:ext cx="3362858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88738" y="3017520"/>
            <a:ext cx="28142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6202A"/>
                </a:solidFill>
                <a:latin typeface="Arial"/>
              </a:rPr>
              <a:t>UTIs e leitos críticos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8738" y="3794760"/>
            <a:ext cx="28142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O paciente não tem condição de ser removido, e a temperatura do ambiente faz parte do cuidado.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5876" y="2697480"/>
            <a:ext cx="3362858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05876" y="2697480"/>
            <a:ext cx="3362858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0196" y="3017520"/>
            <a:ext cx="28142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6202A"/>
                </a:solidFill>
                <a:latin typeface="Arial"/>
              </a:rPr>
              <a:t>Pronto-socorro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0196" y="3794760"/>
            <a:ext cx="28142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Ocupação contínua e imprevisível. O equipamento quase nunca é desligado para manutenção.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4924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16202A"/>
                </a:solidFill>
                <a:latin typeface="Arial"/>
              </a:rPr>
              <a:t>O desgaste desses aparelhos aparece antes da parada, na vibração do compressor, na corrente do motor e na temperatura de operação.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Seminário 1 · Trabalhos relacionados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6202A"/>
                </a:solidFill>
                <a:latin typeface="Arial"/>
              </a:rPr>
              <a:t>O mesmo problema aparece fora do hospital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463040" cy="45720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O critério é operação ininterrupta somada a uma parada que custa mais que o reparo.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60320"/>
            <a:ext cx="5090007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22960" y="2560320"/>
            <a:ext cx="64008" cy="13716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88720" y="2761488"/>
            <a:ext cx="43584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202A"/>
                </a:solidFill>
                <a:latin typeface="Arial"/>
              </a:rPr>
              <a:t>Data centers e salas de servidores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218688"/>
            <a:ext cx="43584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A refrigeração é o ponto único de falha. Sem ela, o hardware desliga por temperatura.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560320"/>
            <a:ext cx="5090007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78727" y="2560320"/>
            <a:ext cx="64008" cy="13716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44487" y="2761488"/>
            <a:ext cx="43584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202A"/>
                </a:solidFill>
                <a:latin typeface="Arial"/>
              </a:rPr>
              <a:t>Laboratórios refrigerados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487" y="3218688"/>
            <a:ext cx="43584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Reagentes e amostras fora de faixa invalidam resultados e perdem-se em silêncio.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133088"/>
            <a:ext cx="5090007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22960" y="4133088"/>
            <a:ext cx="64008" cy="13716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334256"/>
            <a:ext cx="43584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202A"/>
                </a:solidFill>
                <a:latin typeface="Arial"/>
              </a:rPr>
              <a:t>Centros de operações e emergência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791456"/>
            <a:ext cx="43584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Salas do 190 e do 193 nunca desligam. Se o equipamento cai, o atendimento cai junto.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4133088"/>
            <a:ext cx="5090007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78727" y="4133088"/>
            <a:ext cx="64008" cy="13716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44487" y="4334256"/>
            <a:ext cx="43584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202A"/>
                </a:solidFill>
                <a:latin typeface="Arial"/>
              </a:rPr>
              <a:t>Aeroportos e rodoviárias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487" y="4791456"/>
            <a:ext cx="43584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A6B7A"/>
                </a:solidFill>
                <a:latin typeface="Arial"/>
              </a:rPr>
              <a:t>Terminais abertos o tempo todo. A manutenção precisa acontecer sem interromper a operação.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6202A"/>
                </a:solidFill>
                <a:latin typeface="Arial"/>
              </a:rPr>
              <a:t>Muda a consequência da parada. O equipamento e o método continuam os mesmos.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Seminário 1 · Trabalhos relacionados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COMO ORGANIZAMOS A LEITURA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6202A"/>
                </a:solidFill>
                <a:latin typeface="Arial"/>
              </a:rPr>
              <a:t>Seis trabalhos, três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1463040" cy="45720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Cada camada responde a uma pergunta diferente do nosso projeto.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97480"/>
            <a:ext cx="3362858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3362858" cy="4572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97280" y="2816352"/>
            <a:ext cx="28142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MEDIR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281421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6202A"/>
                </a:solidFill>
                <a:latin typeface="Arial"/>
              </a:rPr>
              <a:t>Como instrumentar o equipamento e levar o dado até uma decisão.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34840"/>
            <a:ext cx="28142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6E8C"/>
                </a:solidFill>
                <a:latin typeface="Arial"/>
              </a:rPr>
              <a:t>[1] Yousuf et al., 2024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600" b="1">
                <a:solidFill>
                  <a:srgbClr val="1B6E8C"/>
                </a:solidFill>
                <a:latin typeface="Arial"/>
              </a:rPr>
              <a:t>[2] Mohammed et al., 2023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2697480"/>
            <a:ext cx="3362858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414418" y="2697480"/>
            <a:ext cx="3362858" cy="4572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688738" y="2816352"/>
            <a:ext cx="28142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DETECTAR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8738" y="3383280"/>
            <a:ext cx="281421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6202A"/>
                </a:solidFill>
                <a:latin typeface="Arial"/>
              </a:rPr>
              <a:t>Como separar operação normal de anomalia com hardware barato.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8738" y="4434840"/>
            <a:ext cx="28142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6E8C"/>
                </a:solidFill>
                <a:latin typeface="Arial"/>
              </a:rPr>
              <a:t>[3] Kolok et al.,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876" y="2697480"/>
            <a:ext cx="3362858" cy="3063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05876" y="2697480"/>
            <a:ext cx="3362858" cy="457200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80196" y="2816352"/>
            <a:ext cx="28142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Arial"/>
              </a:rPr>
              <a:t>CONFIAR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196" y="3383280"/>
            <a:ext cx="281421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6202A"/>
                </a:solidFill>
                <a:latin typeface="Arial"/>
              </a:rPr>
              <a:t>Como garantir que o resultado se sustenta e vira ação.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0196" y="4434840"/>
            <a:ext cx="28142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B6E8C"/>
                </a:solidFill>
                <a:latin typeface="Arial"/>
              </a:rPr>
              <a:t>[4] Meitz et al., 2025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600" b="1">
                <a:solidFill>
                  <a:srgbClr val="1B6E8C"/>
                </a:solidFill>
                <a:latin typeface="Arial"/>
              </a:rPr>
              <a:t>[5] Gupta et al., 2023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600" b="1">
                <a:solidFill>
                  <a:srgbClr val="1B6E8C"/>
                </a:solidFill>
                <a:latin typeface="Arial"/>
              </a:rPr>
              <a:t>[6] Burmeister et al., 2023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Seminário 1 · Trabalhos relacionados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6202A"/>
                </a:solidFill>
                <a:latin typeface="Arial"/>
              </a:rPr>
              <a:t>Yousuf et al.,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Monitoramento de condição e detecção de falhas em motor de indução 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90007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5090007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6E8C"/>
                </a:solidFill>
                <a:latin typeface="Arial"/>
              </a:rPr>
              <a:t>O QUE O TRABALHO ESTUDOU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Motor de indução CA instrumentado com temperatura, vibração, corrente, tensão e velocidade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Aquisição em Arduino, com alarme local e notificação por GSM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Proteção automática por relé e histórico na plataforma IoT Blynk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148840"/>
            <a:ext cx="5090007" cy="3886200"/>
          </a:xfrm>
          <a:prstGeom prst="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78727" y="2148840"/>
            <a:ext cx="5090007" cy="6400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A28"/>
                </a:solidFill>
                <a:latin typeface="Arial"/>
              </a:rPr>
              <a:t>O QUE LEVAMOS PARA 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Fechar a cadeia inteira, do sensor até a ação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Temperatura, vibração e corrente como lista de partida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Relé como resposta automática à falha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Measurement and Control, v. 57, n. 8, 2024 · DOI 10.1177/00202940241231473 · [1]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6202A"/>
                </a:solidFill>
                <a:latin typeface="Arial"/>
              </a:rPr>
              <a:t>Mohammed, Abdulateef e Hamad,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Manutenção preditiva de motores elétricos com IoT industrial e aprendizado de máquina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90007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5090007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6E8C"/>
                </a:solidFill>
                <a:latin typeface="Arial"/>
              </a:rPr>
              <a:t>O QUE O TRABALHO ESTUDOU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Raspberry Pi coletando vibração, corrente e temperatura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Transmissão por MQTT para servidor em nuvem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Cinco algoritmos supervisionados sobre falhas induzidas, com Random Forest à frente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148840"/>
            <a:ext cx="5090007" cy="3886200"/>
          </a:xfrm>
          <a:prstGeom prst="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78727" y="2148840"/>
            <a:ext cx="5090007" cy="6400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A28"/>
                </a:solidFill>
                <a:latin typeface="Arial"/>
              </a:rPr>
              <a:t>O QUE LEVAMOS PARA 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MQTT separa aquisição de análise e libera o ESP32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Falha induzida gera dados sem histórico prévio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Coleta a cada segundo não preserva a vibração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J. Européen des Systèmes Automatisés, v. 56, n. 4, 2023 · DOI 10.18280/jesa.560414 · 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DETECTAR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6202A"/>
                </a:solidFill>
                <a:latin typeface="Arial"/>
              </a:rPr>
              <a:t>Kolok et al.,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Manutenção preditiva de baixo custo baseada em vibração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90007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5090007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6E8C"/>
                </a:solidFill>
                <a:latin typeface="Arial"/>
              </a:rPr>
              <a:t>O QUE O TRABALHO ESTUDOU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ESP32 com sensores MEMS de vibração e acústico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RMS no domínio do tempo e FFT no da frequência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Isolation Forest treinado apenas com operação saudável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148840"/>
            <a:ext cx="5090007" cy="3886200"/>
          </a:xfrm>
          <a:prstGeom prst="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78727" y="2148840"/>
            <a:ext cx="5090007" cy="6400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A28"/>
                </a:solidFill>
                <a:latin typeface="Arial"/>
              </a:rPr>
              <a:t>O QUE LEVAMOS PARA 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Dispensa exemplos de falha, nossa maior limitação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Extração de característica cabe na borda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Calibração por equipamento é obrigatória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Sensors, v. 25, art. 6610, 2025 · DOI 10.3390/s25216610 ·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CONFIAR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6202A"/>
                </a:solidFill>
                <a:latin typeface="Arial"/>
              </a:rPr>
              <a:t>Meitz et al.,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Revisão estruturada e desafios em aberto da manutenção preditiva na Indústria 4.0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90007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5090007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6E8C"/>
                </a:solidFill>
                <a:latin typeface="Arial"/>
              </a:rPr>
              <a:t>O QUE O TRABALHO ESTUDOU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Revisão sistemática de 249 publicações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Nove categorias e 73 atributos de manutenção preditiva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Do monitoramento de condição ao prognóstico e ao planejamento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148840"/>
            <a:ext cx="5090007" cy="3886200"/>
          </a:xfrm>
          <a:prstGeom prst="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78727" y="2148840"/>
            <a:ext cx="5090007" cy="6400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A28"/>
                </a:solidFill>
                <a:latin typeface="Arial"/>
              </a:rPr>
              <a:t>O QUE LEVAMOS PARA 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O projeto é um fluxo inteiro: aquisição, tratamento, detecção e avaliação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Nosso escopo fica na detecção de anomalia, antes do prognóstico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Avaliação é etapa própria, com métrica escolhida de propósito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Documentar amostragem, limpeza e separação de treino e teste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Computers &amp; Industrial Engineering, v. 206, 2025 · DOI 10.1016/j.cie.2025.111193 · [4]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CONFIAR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6202A"/>
                </a:solidFill>
                <a:latin typeface="Arial"/>
              </a:rPr>
              <a:t>Gupta et al.,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Manutenção preditiva de esteiras de bagagem de aeroporto com IoT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90007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5090007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6E8C"/>
                </a:solidFill>
                <a:latin typeface="Arial"/>
              </a:rPr>
              <a:t>O QUE O TRABALHO ESTUDOU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Vibração por IoT em oito esteiras idênticas em operação real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Sem histórico até a falha, com limpeza apoiada em RMS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Rótulos extraídos de registros de manutenção em texto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Quatro classificadores comparados, com Random Forest à frente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148840"/>
            <a:ext cx="5090007" cy="3886200"/>
          </a:xfrm>
          <a:prstGeom prst="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78727" y="2148840"/>
            <a:ext cx="5090007" cy="6400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A28"/>
                </a:solidFill>
                <a:latin typeface="Arial"/>
              </a:rPr>
              <a:t>O QUE LEVAMOS PARA 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É o caso mais próximo do nosso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Limpar ruído e rotular consomem a maior parte do trabalho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Registro escrito de manutenção pode virar rótulo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Computers &amp; Industrial Engineering, v. 177, 2023 · DOI 10.1016/j.cie.2023.109033 · [5]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CONFIAR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6202A"/>
                </a:solidFill>
                <a:latin typeface="Arial"/>
              </a:rPr>
              <a:t>Burmeister et al.,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5A6B7A"/>
                </a:solidFill>
                <a:latin typeface="Arial"/>
              </a:rPr>
              <a:t>Exploração de dados de produção para manutenção preditiva de equipamento industrial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90007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5090007" cy="6400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6E8C"/>
                </a:solidFill>
                <a:latin typeface="Arial"/>
              </a:rPr>
              <a:t>O QUE O TRABALHO ESTUDOU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Redes bayesianas e árvores de classificação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227.996 observações de produção e inspeção, com 29 variáveis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Reamostragem para lidar com a resposta desbalanceada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Previsões traduzidas em regras interpretáveis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2148840"/>
            <a:ext cx="5090007" cy="3886200"/>
          </a:xfrm>
          <a:prstGeom prst="rect">
            <a:avLst/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78727" y="2148840"/>
            <a:ext cx="5090007" cy="6400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98767" y="2468880"/>
            <a:ext cx="44499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7A28"/>
                </a:solidFill>
                <a:latin typeface="Arial"/>
              </a:rPr>
              <a:t>O QUE LEVAMOS PARA 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3017520"/>
            <a:ext cx="4449927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20000"/>
              </a:lnSpc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Todo alerta precisa dizer o que o motivou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Modelo legível vale mais que modelo opaco</a:t>
            </a:r>
          </a:p>
          <a:p>
            <a:pPr marL="256032" indent="-256032">
              <a:lnSpc>
                <a:spcPct val="120000"/>
              </a:lnSpc>
              <a:spcBef>
                <a:spcPts val="1100"/>
              </a:spcBef>
              <a:buClr>
                <a:srgbClr val="1B6E8C"/>
              </a:buClr>
              <a:buFont typeface="Arial"/>
              <a:buChar char="•"/>
            </a:pPr>
            <a:r>
              <a:rPr sz="1700">
                <a:solidFill>
                  <a:srgbClr val="16202A"/>
                </a:solidFill>
                <a:latin typeface="Arial"/>
              </a:rPr>
              <a:t>Dado operacional complementa o sinal de sensor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IEEE Access, v. 11, 2023 · DOI 10.1109/ACCESS.2023.3315842 · [6]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6E8C"/>
                </a:solidFill>
                <a:latin typeface="Arial"/>
              </a:rPr>
              <a:t>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457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6202A"/>
                </a:solidFill>
                <a:latin typeface="Arial"/>
              </a:rPr>
              <a:t>O que cada trabalho decidiu no nosso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00200"/>
            <a:ext cx="1463040" cy="45720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1054577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22960" y="2057400"/>
            <a:ext cx="64008" cy="56692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88720" y="22037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6E8C"/>
                </a:solidFill>
                <a:latin typeface="Arial"/>
              </a:rPr>
              <a:t>[1] Yousuf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203704"/>
            <a:ext cx="7436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202A"/>
                </a:solidFill>
                <a:latin typeface="Arial"/>
              </a:rPr>
              <a:t>Fechar a cadeia do sensor até a 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79192"/>
            <a:ext cx="1054577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22960" y="2679192"/>
            <a:ext cx="64008" cy="56692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88720" y="282549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6E8C"/>
                </a:solidFill>
                <a:latin typeface="Arial"/>
              </a:rPr>
              <a:t>[2] Mohammed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825496"/>
            <a:ext cx="7436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202A"/>
                </a:solidFill>
                <a:latin typeface="Arial"/>
              </a:rPr>
              <a:t>Separar aquisição de análise; induzir falhas para gerar 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300984"/>
            <a:ext cx="1054577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22960" y="3300984"/>
            <a:ext cx="64008" cy="56692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88720" y="34472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6E8C"/>
                </a:solidFill>
                <a:latin typeface="Arial"/>
              </a:rPr>
              <a:t>[3] Kolok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447288"/>
            <a:ext cx="7436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202A"/>
                </a:solidFill>
                <a:latin typeface="Arial"/>
              </a:rPr>
              <a:t>Treinar apenas com operação saudável, processando na borda.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922776"/>
            <a:ext cx="1054577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22960" y="3922776"/>
            <a:ext cx="64008" cy="56692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88720" y="40690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6E8C"/>
                </a:solidFill>
                <a:latin typeface="Arial"/>
              </a:rPr>
              <a:t>[4] Meitz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069080"/>
            <a:ext cx="7436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202A"/>
                </a:solidFill>
                <a:latin typeface="Arial"/>
              </a:rPr>
              <a:t>Assumir detecção de anomalia como escopo desta etapa.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44568"/>
            <a:ext cx="1054577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22960" y="4544568"/>
            <a:ext cx="64008" cy="566928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188720" y="469087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6E8C"/>
                </a:solidFill>
                <a:latin typeface="Arial"/>
              </a:rPr>
              <a:t>[5] Gupta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690872"/>
            <a:ext cx="7436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202A"/>
                </a:solidFill>
                <a:latin typeface="Arial"/>
              </a:rPr>
              <a:t>Tratar ruído e ausência de rótulo como o trabalho principal.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166360"/>
            <a:ext cx="1054577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22960" y="5166360"/>
            <a:ext cx="64008" cy="566928"/>
          </a:xfrm>
          <a:prstGeom prst="rect">
            <a:avLst/>
          </a:prstGeom>
          <a:solidFill>
            <a:srgbClr val="D97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188720" y="531266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6E8C"/>
                </a:solidFill>
                <a:latin typeface="Arial"/>
              </a:rPr>
              <a:t>[6] Burmeister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312664"/>
            <a:ext cx="7436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6202A"/>
                </a:solidFill>
                <a:latin typeface="Arial"/>
              </a:rPr>
              <a:t>Todo alerta precisa registrar o que o motivou.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6144768"/>
            <a:ext cx="10545775" cy="9525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6291072"/>
            <a:ext cx="63274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Seminário 1 · Trabalhos relacionados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0425" y="6291072"/>
            <a:ext cx="42183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A6B7A"/>
                </a:solidFill>
                <a:latin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