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B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77240" y="1554480"/>
            <a:ext cx="1063721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spc="140">
                <a:solidFill>
                  <a:srgbClr val="7FB4DD"/>
                </a:solidFill>
                <a:latin typeface="Arial"/>
              </a:rPr>
              <a:t>SEMINÁRIO 1 · TRABALHOS RELACIONADOS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148840"/>
            <a:ext cx="100584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4400" b="1">
                <a:solidFill>
                  <a:srgbClr val="FFFFFF"/>
                </a:solidFill>
                <a:latin typeface="Arial"/>
              </a:rPr>
              <a:t>Manutenção preditiva de aparelhos de ar-condicionado em operação contínua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4480560"/>
            <a:ext cx="1737360" cy="50292"/>
          </a:xfrm>
          <a:prstGeom prst="rect">
            <a:avLst/>
          </a:prstGeom>
          <a:solidFill>
            <a:srgbClr val="7FB4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7240" y="4846320"/>
            <a:ext cx="106372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>
                <a:solidFill>
                  <a:srgbClr val="7FB4DD"/>
                </a:solidFill>
                <a:latin typeface="Arial"/>
              </a:rPr>
              <a:t>Igor Costa · Jorge Alves · Ian Dias · Davi Ito</a:t>
            </a:r>
          </a:p>
          <a:p>
            <a:pPr algn="l">
              <a:lnSpc>
                <a:spcPct val="135000"/>
              </a:lnSpc>
              <a:spcBef>
                <a:spcPts val="900"/>
              </a:spcBef>
            </a:pPr>
            <a:r>
              <a:rPr sz="1800" b="0">
                <a:solidFill>
                  <a:srgbClr val="7FB4DD"/>
                </a:solidFill>
                <a:latin typeface="Arial"/>
              </a:rPr>
              <a:t>Ibmec, Rio de Janeiro · IBM3118 Sistemas Embarcados · 2026.2 · Grupo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77240" y="658368"/>
            <a:ext cx="1063721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spc="140">
                <a:solidFill>
                  <a:srgbClr val="1B6FB5"/>
                </a:solidFill>
                <a:latin typeface="Arial"/>
              </a:rPr>
              <a:t>MOTIVAÇÃO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6372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800" b="1">
                <a:solidFill>
                  <a:srgbClr val="0F2436"/>
                </a:solidFill>
                <a:latin typeface="Arial"/>
              </a:rPr>
              <a:t>Começou pelas áreas com pacientes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783080"/>
            <a:ext cx="1737360" cy="50292"/>
          </a:xfrm>
          <a:prstGeom prst="rect">
            <a:avLst/>
          </a:prstGeom>
          <a:solidFill>
            <a:srgbClr val="1B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77240" y="2084831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>
                <a:solidFill>
                  <a:srgbClr val="5B7285"/>
                </a:solidFill>
                <a:latin typeface="Arial"/>
              </a:rPr>
              <a:t>Aparelhos instalados nos ambientes onde há paciente o tempo todo.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651760"/>
            <a:ext cx="10637215" cy="2011680"/>
          </a:xfrm>
          <a:prstGeom prst="rect">
            <a:avLst/>
          </a:prstGeom>
          <a:solidFill>
            <a:srgbClr val="E8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188720" y="3063240"/>
            <a:ext cx="296661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0F2436"/>
                </a:solidFill>
                <a:latin typeface="Arial"/>
              </a:rPr>
              <a:t>Enfermarias e quartos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538728"/>
            <a:ext cx="296661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5B7285"/>
                </a:solidFill>
                <a:latin typeface="Arial"/>
              </a:rPr>
              <a:t>Ligado dia e noite. Parar significa remanejar quem está internado.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3938" y="3063240"/>
            <a:ext cx="12700" cy="1188720"/>
          </a:xfrm>
          <a:prstGeom prst="rect">
            <a:avLst/>
          </a:prstGeom>
          <a:solidFill>
            <a:srgbClr val="7FB4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612538" y="3063240"/>
            <a:ext cx="296661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0F2436"/>
                </a:solidFill>
                <a:latin typeface="Arial"/>
              </a:rPr>
              <a:t>UTIs e leitos críticos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2538" y="3538728"/>
            <a:ext cx="296661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5B7285"/>
                </a:solidFill>
                <a:latin typeface="Arial"/>
              </a:rPr>
              <a:t>O paciente não pode ser removido, e a temperatura faz parte do cuidado.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07756" y="3063240"/>
            <a:ext cx="12700" cy="1188720"/>
          </a:xfrm>
          <a:prstGeom prst="rect">
            <a:avLst/>
          </a:prstGeom>
          <a:solidFill>
            <a:srgbClr val="7FB4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036356" y="3063240"/>
            <a:ext cx="296661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0F2436"/>
                </a:solidFill>
                <a:latin typeface="Arial"/>
              </a:rPr>
              <a:t>Pronto-socorro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36356" y="3538728"/>
            <a:ext cx="296661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5B7285"/>
                </a:solidFill>
                <a:latin typeface="Arial"/>
              </a:rPr>
              <a:t>Ocupação contínua. Quase nunca é desligado para manutenção.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5029200"/>
            <a:ext cx="10637215" cy="987552"/>
          </a:xfrm>
          <a:prstGeom prst="rect">
            <a:avLst/>
          </a:prstGeom>
          <a:solidFill>
            <a:srgbClr val="0B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188720" y="5276088"/>
            <a:ext cx="981425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>
                <a:solidFill>
                  <a:srgbClr val="FFFFFF"/>
                </a:solidFill>
                <a:latin typeface="Arial"/>
              </a:rPr>
              <a:t>O desgaste aparece antes da parada, na vibração do compressor, na corrente do motor e na temperatura de operação.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6144768"/>
            <a:ext cx="10637215" cy="9525"/>
          </a:xfrm>
          <a:prstGeom prst="rect">
            <a:avLst/>
          </a:prstGeom>
          <a:solidFill>
            <a:srgbClr val="E8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77240" y="6309360"/>
            <a:ext cx="744605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B7285"/>
                </a:solidFill>
                <a:latin typeface="Arial"/>
              </a:rPr>
              <a:t>Seminário 1 · Trabalhos relacionados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3290" y="6309360"/>
            <a:ext cx="31911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5B7285"/>
                </a:solidFill>
                <a:latin typeface="Arial"/>
              </a:rPr>
              <a:t>2 /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77240" y="658368"/>
            <a:ext cx="1063721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spc="140">
                <a:solidFill>
                  <a:srgbClr val="1B6FB5"/>
                </a:solidFill>
                <a:latin typeface="Arial"/>
              </a:rPr>
              <a:t>ALCANCE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6372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800" b="1">
                <a:solidFill>
                  <a:srgbClr val="0F2436"/>
                </a:solidFill>
                <a:latin typeface="Arial"/>
              </a:rPr>
              <a:t>O mesmo problema aparece fora do hospital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783080"/>
            <a:ext cx="1737360" cy="50292"/>
          </a:xfrm>
          <a:prstGeom prst="rect">
            <a:avLst/>
          </a:prstGeom>
          <a:solidFill>
            <a:srgbClr val="1B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77240" y="2084831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>
                <a:solidFill>
                  <a:srgbClr val="5B7285"/>
                </a:solidFill>
                <a:latin typeface="Arial"/>
              </a:rPr>
              <a:t>O critério é operação ininterrupta somada a uma parada que custa mais que o reparo.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843784"/>
            <a:ext cx="50292" cy="1097280"/>
          </a:xfrm>
          <a:prstGeom prst="rect">
            <a:avLst/>
          </a:prstGeom>
          <a:solidFill>
            <a:srgbClr val="1B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097280" y="2788920"/>
            <a:ext cx="4449927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0F2436"/>
                </a:solidFill>
                <a:latin typeface="Arial"/>
              </a:rPr>
              <a:t>Data centers e salas de servidores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291840"/>
            <a:ext cx="4449927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5B7285"/>
                </a:solidFill>
                <a:latin typeface="Arial"/>
              </a:rPr>
              <a:t>A refrigeração é o ponto único de falha. Sem ela, o hardware desliga por temperatura.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07327" y="2843784"/>
            <a:ext cx="50292" cy="1097280"/>
          </a:xfrm>
          <a:prstGeom prst="rect">
            <a:avLst/>
          </a:prstGeom>
          <a:solidFill>
            <a:srgbClr val="1B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827367" y="2788920"/>
            <a:ext cx="4449927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0F2436"/>
                </a:solidFill>
                <a:latin typeface="Arial"/>
              </a:rPr>
              <a:t>Laboratórios refrigerados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27367" y="3291840"/>
            <a:ext cx="4449927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5B7285"/>
                </a:solidFill>
                <a:latin typeface="Arial"/>
              </a:rPr>
              <a:t>Reagentes e amostras fora de faixa invalidam resultados e perdem-se em silêncio.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4443984"/>
            <a:ext cx="50292" cy="1097280"/>
          </a:xfrm>
          <a:prstGeom prst="rect">
            <a:avLst/>
          </a:prstGeom>
          <a:solidFill>
            <a:srgbClr val="1B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097280" y="4389120"/>
            <a:ext cx="4449927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0F2436"/>
                </a:solidFill>
                <a:latin typeface="Arial"/>
              </a:rPr>
              <a:t>Centros de operações e emergência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892040"/>
            <a:ext cx="4449927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5B7285"/>
                </a:solidFill>
                <a:latin typeface="Arial"/>
              </a:rPr>
              <a:t>Salas do 190 e do 193 nunca desligam. Se o equipamento cai, o atendimento cai junto.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07327" y="4443984"/>
            <a:ext cx="50292" cy="1097280"/>
          </a:xfrm>
          <a:prstGeom prst="rect">
            <a:avLst/>
          </a:prstGeom>
          <a:solidFill>
            <a:srgbClr val="1B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827367" y="4389120"/>
            <a:ext cx="4449927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0F2436"/>
                </a:solidFill>
                <a:latin typeface="Arial"/>
              </a:rPr>
              <a:t>Aeroportos e rodoviárias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27367" y="4892040"/>
            <a:ext cx="4449927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5B7285"/>
                </a:solidFill>
                <a:latin typeface="Arial"/>
              </a:rPr>
              <a:t>Terminais abertos o tempo todo. A manutenção precisa acontecer sem interromper a operação.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852160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5B7285"/>
                </a:solidFill>
                <a:latin typeface="Arial"/>
              </a:rPr>
              <a:t>Muda a consequência da parada. O equipamento e o método continuam os mesmos.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6144768"/>
            <a:ext cx="10637215" cy="9525"/>
          </a:xfrm>
          <a:prstGeom prst="rect">
            <a:avLst/>
          </a:prstGeom>
          <a:solidFill>
            <a:srgbClr val="E8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77240" y="6309360"/>
            <a:ext cx="744605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B7285"/>
                </a:solidFill>
                <a:latin typeface="Arial"/>
              </a:rPr>
              <a:t>Seminário 1 · Trabalhos relacionados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3290" y="6309360"/>
            <a:ext cx="31911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5B7285"/>
                </a:solidFill>
                <a:latin typeface="Arial"/>
              </a:rPr>
              <a:t>3 /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4160520" cy="6858000"/>
          </a:xfrm>
          <a:prstGeom prst="rect">
            <a:avLst/>
          </a:prstGeom>
          <a:solidFill>
            <a:srgbClr val="0B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77240" y="731520"/>
            <a:ext cx="1828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000" b="1">
                <a:solidFill>
                  <a:srgbClr val="1B6FB5"/>
                </a:solidFill>
                <a:latin typeface="Arial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2926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spc="140">
                <a:solidFill>
                  <a:srgbClr val="7FB4DD"/>
                </a:solidFill>
                <a:latin typeface="Arial"/>
              </a:rPr>
              <a:t>PANORAMA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286000"/>
            <a:ext cx="30632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900" b="1">
                <a:solidFill>
                  <a:srgbClr val="FFFFFF"/>
                </a:solidFill>
                <a:latin typeface="Arial"/>
              </a:rPr>
              <a:t>Meitz et 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972714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7FB4DD"/>
                </a:solidFill>
                <a:latin typeface="Arial"/>
              </a:rPr>
              <a:t>2025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3931920"/>
            <a:ext cx="1280160" cy="41148"/>
          </a:xfrm>
          <a:prstGeom prst="rect">
            <a:avLst/>
          </a:prstGeom>
          <a:solidFill>
            <a:srgbClr val="1B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77240" y="4297680"/>
            <a:ext cx="30632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7FB4DD"/>
                </a:solidFill>
                <a:latin typeface="Arial"/>
              </a:rPr>
              <a:t>Computers &amp; Industrial Engineering</a:t>
            </a:r>
          </a:p>
          <a:p>
            <a:pPr algn="l">
              <a:lnSpc>
                <a:spcPct val="135000"/>
              </a:lnSpc>
              <a:spcBef>
                <a:spcPts val="900"/>
              </a:spcBef>
            </a:pPr>
            <a:r>
              <a:rPr sz="1200" b="0">
                <a:solidFill>
                  <a:srgbClr val="7FB4DD"/>
                </a:solidFill>
                <a:latin typeface="Arial"/>
              </a:rPr>
              <a:t>v. 206, art. 111193, 2025</a:t>
            </a:r>
          </a:p>
          <a:p>
            <a:pPr algn="l">
              <a:lnSpc>
                <a:spcPct val="135000"/>
              </a:lnSpc>
              <a:spcBef>
                <a:spcPts val="900"/>
              </a:spcBef>
            </a:pPr>
            <a:r>
              <a:rPr sz="1200" b="0">
                <a:solidFill>
                  <a:srgbClr val="7FB4DD"/>
                </a:solidFill>
                <a:latin typeface="Arial"/>
              </a:rPr>
              <a:t>DOI 10.1016/j.cie.2025.111193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868680"/>
            <a:ext cx="65681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0F2436"/>
                </a:solidFill>
                <a:latin typeface="Arial"/>
              </a:rPr>
              <a:t>Revisão estruturada e desafios em aberto da manutenção preditiva na Indústria 4.0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1920240"/>
            <a:ext cx="656813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spc="140">
                <a:solidFill>
                  <a:srgbClr val="1B6FB5"/>
                </a:solidFill>
                <a:latin typeface="Arial"/>
              </a:rPr>
              <a:t>O QUE O TRABALHO ESTUDOU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2331720"/>
            <a:ext cx="656813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lnSpc>
                <a:spcPct val="122000"/>
              </a:lnSpc>
              <a:buClr>
                <a:srgbClr val="1B6FB5"/>
              </a:buClr>
              <a:buFont typeface="Arial"/>
              <a:buChar char="–"/>
            </a:pPr>
            <a:r>
              <a:rPr sz="1600">
                <a:solidFill>
                  <a:srgbClr val="0F2436"/>
                </a:solidFill>
                <a:latin typeface="Arial"/>
              </a:rPr>
              <a:t>Revisão de 249 publicações, organizadas em nove categorias</a:t>
            </a:r>
          </a:p>
          <a:p>
            <a:pPr marL="274320" indent="-274320">
              <a:lnSpc>
                <a:spcPct val="122000"/>
              </a:lnSpc>
              <a:spcBef>
                <a:spcPts val="800"/>
              </a:spcBef>
              <a:buClr>
                <a:srgbClr val="1B6FB5"/>
              </a:buClr>
              <a:buFont typeface="Arial"/>
              <a:buChar char="–"/>
            </a:pPr>
            <a:r>
              <a:rPr sz="1600">
                <a:solidFill>
                  <a:srgbClr val="0F2436"/>
                </a:solidFill>
                <a:latin typeface="Arial"/>
              </a:rPr>
              <a:t>Monitoramento de condição: o que medir no equipamento</a:t>
            </a:r>
          </a:p>
          <a:p>
            <a:pPr marL="274320" indent="-274320">
              <a:lnSpc>
                <a:spcPct val="122000"/>
              </a:lnSpc>
              <a:spcBef>
                <a:spcPts val="800"/>
              </a:spcBef>
              <a:buClr>
                <a:srgbClr val="1B6FB5"/>
              </a:buClr>
              <a:buFont typeface="Arial"/>
              <a:buChar char="–"/>
            </a:pPr>
            <a:r>
              <a:rPr sz="1600">
                <a:solidFill>
                  <a:srgbClr val="0F2436"/>
                </a:solidFill>
                <a:latin typeface="Arial"/>
              </a:rPr>
              <a:t>Tratamento de dados: limpar, rotular e organizar</a:t>
            </a:r>
          </a:p>
          <a:p>
            <a:pPr marL="274320" indent="-274320">
              <a:lnSpc>
                <a:spcPct val="122000"/>
              </a:lnSpc>
              <a:spcBef>
                <a:spcPts val="800"/>
              </a:spcBef>
              <a:buClr>
                <a:srgbClr val="1B6FB5"/>
              </a:buClr>
              <a:buFont typeface="Arial"/>
              <a:buChar char="–"/>
            </a:pPr>
            <a:r>
              <a:rPr sz="1600">
                <a:solidFill>
                  <a:srgbClr val="0F2436"/>
                </a:solidFill>
                <a:latin typeface="Arial"/>
              </a:rPr>
              <a:t>Detecção de falhas, degradação e prognóstico</a:t>
            </a:r>
          </a:p>
          <a:p>
            <a:pPr marL="274320" indent="-274320">
              <a:lnSpc>
                <a:spcPct val="122000"/>
              </a:lnSpc>
              <a:spcBef>
                <a:spcPts val="800"/>
              </a:spcBef>
              <a:buClr>
                <a:srgbClr val="1B6FB5"/>
              </a:buClr>
              <a:buFont typeface="Arial"/>
              <a:buChar char="–"/>
            </a:pPr>
            <a:r>
              <a:rPr sz="1600">
                <a:solidFill>
                  <a:srgbClr val="0F2436"/>
                </a:solidFill>
                <a:latin typeface="Arial"/>
              </a:rPr>
              <a:t>Avaliação e planejamento da manutenção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46320" y="4416552"/>
            <a:ext cx="6568135" cy="22860"/>
          </a:xfrm>
          <a:prstGeom prst="rect">
            <a:avLst/>
          </a:prstGeom>
          <a:solidFill>
            <a:srgbClr val="1B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846320" y="4690872"/>
            <a:ext cx="656813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spc="140">
                <a:solidFill>
                  <a:srgbClr val="1B6FB5"/>
                </a:solidFill>
                <a:latin typeface="Arial"/>
              </a:rPr>
              <a:t>O QUE LEVAMOS PARA O PROJETO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5102352"/>
            <a:ext cx="656813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lnSpc>
                <a:spcPct val="122000"/>
              </a:lnSpc>
              <a:buClr>
                <a:srgbClr val="1B6FB5"/>
              </a:buClr>
              <a:buFont typeface="Arial"/>
              <a:buChar char="–"/>
            </a:pPr>
            <a:r>
              <a:rPr sz="1600">
                <a:solidFill>
                  <a:srgbClr val="0F2436"/>
                </a:solidFill>
                <a:latin typeface="Arial"/>
              </a:rPr>
              <a:t>As etapas dele viram a estrutura do nosso projeto</a:t>
            </a:r>
          </a:p>
          <a:p>
            <a:pPr marL="274320" indent="-274320">
              <a:lnSpc>
                <a:spcPct val="122000"/>
              </a:lnSpc>
              <a:spcBef>
                <a:spcPts val="800"/>
              </a:spcBef>
              <a:buClr>
                <a:srgbClr val="1B6FB5"/>
              </a:buClr>
              <a:buFont typeface="Arial"/>
              <a:buChar char="–"/>
            </a:pPr>
            <a:r>
              <a:rPr sz="1600">
                <a:solidFill>
                  <a:srgbClr val="0F2436"/>
                </a:solidFill>
                <a:latin typeface="Arial"/>
              </a:rPr>
              <a:t>Ficamos em monitoramento, dados, detecção e avaliação</a:t>
            </a:r>
          </a:p>
          <a:p>
            <a:pPr marL="274320" indent="-274320">
              <a:lnSpc>
                <a:spcPct val="122000"/>
              </a:lnSpc>
              <a:spcBef>
                <a:spcPts val="800"/>
              </a:spcBef>
              <a:buClr>
                <a:srgbClr val="1B6FB5"/>
              </a:buClr>
              <a:buFont typeface="Arial"/>
              <a:buChar char="–"/>
            </a:pPr>
            <a:r>
              <a:rPr sz="1600">
                <a:solidFill>
                  <a:srgbClr val="0F2436"/>
                </a:solidFill>
                <a:latin typeface="Arial"/>
              </a:rPr>
              <a:t>Prognóstico e vida útil restante ficam declaradamente fora</a:t>
            </a:r>
          </a:p>
          <a:p>
            <a:pPr marL="274320" indent="-274320">
              <a:lnSpc>
                <a:spcPct val="122000"/>
              </a:lnSpc>
              <a:spcBef>
                <a:spcPts val="800"/>
              </a:spcBef>
              <a:buClr>
                <a:srgbClr val="1B6FB5"/>
              </a:buClr>
              <a:buFont typeface="Arial"/>
              <a:buChar char="–"/>
            </a:pPr>
            <a:r>
              <a:rPr sz="1600">
                <a:solidFill>
                  <a:srgbClr val="0F2436"/>
                </a:solidFill>
                <a:latin typeface="Arial"/>
              </a:rPr>
              <a:t>Avaliação é etapa própria, não apêndice do modelo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6291072"/>
            <a:ext cx="3063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7FB4DD"/>
                </a:solidFill>
                <a:latin typeface="Arial"/>
              </a:rPr>
              <a:t>4 /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77240" y="658368"/>
            <a:ext cx="1063721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spc="140">
                <a:solidFill>
                  <a:srgbClr val="1B6FB5"/>
                </a:solidFill>
                <a:latin typeface="Arial"/>
              </a:rPr>
              <a:t>A ESTRUTURA DO PROJETO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6372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800" b="1">
                <a:solidFill>
                  <a:srgbClr val="0F2436"/>
                </a:solidFill>
                <a:latin typeface="Arial"/>
              </a:rPr>
              <a:t>As etapas que o Meitz define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783080"/>
            <a:ext cx="1737360" cy="50292"/>
          </a:xfrm>
          <a:prstGeom prst="rect">
            <a:avLst/>
          </a:prstGeom>
          <a:solidFill>
            <a:srgbClr val="1B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77240" y="2084831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>
                <a:solidFill>
                  <a:srgbClr val="5B7285"/>
                </a:solidFill>
                <a:latin typeface="Arial"/>
              </a:rPr>
              <a:t>Quatro delas organizam o nosso trabalho. A quinta é acréscimo nosso.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697480"/>
            <a:ext cx="1951878" cy="1097280"/>
          </a:xfrm>
          <a:prstGeom prst="rect">
            <a:avLst/>
          </a:prstGeom>
          <a:solidFill>
            <a:srgbClr val="0B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60120" y="2935224"/>
            <a:ext cx="158611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Arial"/>
              </a:rPr>
              <a:t>Monitoramento</a:t>
            </a:r>
          </a:p>
          <a:p>
            <a:pPr algn="l">
              <a:lnSpc>
                <a:spcPct val="115000"/>
              </a:lnSpc>
              <a:spcBef>
                <a:spcPts val="900"/>
              </a:spcBef>
            </a:pPr>
            <a:r>
              <a:rPr sz="1500" b="1">
                <a:solidFill>
                  <a:srgbClr val="FFFFFF"/>
                </a:solidFill>
                <a:latin typeface="Arial"/>
              </a:rPr>
              <a:t>de condição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941064"/>
            <a:ext cx="195187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1B6FB5"/>
                </a:solidFill>
                <a:latin typeface="Arial"/>
              </a:rPr>
              <a:t>[2] Yousuf</a:t>
            </a:r>
          </a:p>
          <a:p>
            <a:pPr algn="l">
              <a:lnSpc>
                <a:spcPct val="125000"/>
              </a:lnSpc>
              <a:spcBef>
                <a:spcPts val="900"/>
              </a:spcBef>
            </a:pPr>
            <a:r>
              <a:rPr sz="1100" b="1">
                <a:solidFill>
                  <a:srgbClr val="1B6FB5"/>
                </a:solidFill>
                <a:latin typeface="Arial"/>
              </a:rPr>
              <a:t>[3] Mohammed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29118" y="3044952"/>
            <a:ext cx="21945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>
                <a:solidFill>
                  <a:srgbClr val="1B6FB5"/>
                </a:solidFill>
                <a:latin typeface="Arial"/>
              </a:rPr>
              <a:t>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48574" y="2697480"/>
            <a:ext cx="1951878" cy="1097280"/>
          </a:xfrm>
          <a:prstGeom prst="rect">
            <a:avLst/>
          </a:prstGeom>
          <a:solidFill>
            <a:srgbClr val="0B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131454" y="2935224"/>
            <a:ext cx="158611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Arial"/>
              </a:rPr>
              <a:t>Tratamento</a:t>
            </a:r>
          </a:p>
          <a:p>
            <a:pPr algn="l">
              <a:lnSpc>
                <a:spcPct val="115000"/>
              </a:lnSpc>
              <a:spcBef>
                <a:spcPts val="900"/>
              </a:spcBef>
            </a:pPr>
            <a:r>
              <a:rPr sz="1500" b="1">
                <a:solidFill>
                  <a:srgbClr val="FFFFFF"/>
                </a:solidFill>
                <a:latin typeface="Arial"/>
              </a:rPr>
              <a:t>de dados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48574" y="3941064"/>
            <a:ext cx="195187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1B6FB5"/>
                </a:solidFill>
                <a:latin typeface="Arial"/>
              </a:rPr>
              <a:t>[5] Gupta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00452" y="3044952"/>
            <a:ext cx="21945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>
                <a:solidFill>
                  <a:srgbClr val="1B6FB5"/>
                </a:solidFill>
                <a:latin typeface="Arial"/>
              </a:rPr>
              <a:t>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19908" y="2697480"/>
            <a:ext cx="1951878" cy="1097280"/>
          </a:xfrm>
          <a:prstGeom prst="rect">
            <a:avLst/>
          </a:prstGeom>
          <a:solidFill>
            <a:srgbClr val="0B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5302788" y="2935224"/>
            <a:ext cx="158611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Arial"/>
              </a:rPr>
              <a:t>Detecção</a:t>
            </a:r>
          </a:p>
          <a:p>
            <a:pPr algn="l">
              <a:lnSpc>
                <a:spcPct val="115000"/>
              </a:lnSpc>
              <a:spcBef>
                <a:spcPts val="900"/>
              </a:spcBef>
            </a:pPr>
            <a:r>
              <a:rPr sz="1500" b="1">
                <a:solidFill>
                  <a:srgbClr val="FFFFFF"/>
                </a:solidFill>
                <a:latin typeface="Arial"/>
              </a:rPr>
              <a:t>de falhas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19908" y="3941064"/>
            <a:ext cx="195187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1B6FB5"/>
                </a:solidFill>
                <a:latin typeface="Arial"/>
              </a:rPr>
              <a:t>[4] Kolok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71786" y="3044952"/>
            <a:ext cx="21945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>
                <a:solidFill>
                  <a:srgbClr val="1B6FB5"/>
                </a:solidFill>
                <a:latin typeface="Arial"/>
              </a:rPr>
              <a:t>›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91242" y="2697480"/>
            <a:ext cx="1951878" cy="1097280"/>
          </a:xfrm>
          <a:prstGeom prst="rect">
            <a:avLst/>
          </a:prstGeom>
          <a:solidFill>
            <a:srgbClr val="0B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474122" y="2935224"/>
            <a:ext cx="158611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Arial"/>
              </a:rPr>
              <a:t>Avaliação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91242" y="3941064"/>
            <a:ext cx="195187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1B6FB5"/>
                </a:solidFill>
                <a:latin typeface="Arial"/>
              </a:rPr>
              <a:t>[1] Meitz</a:t>
            </a:r>
          </a:p>
          <a:p>
            <a:pPr algn="l">
              <a:lnSpc>
                <a:spcPct val="125000"/>
              </a:lnSpc>
              <a:spcBef>
                <a:spcPts val="900"/>
              </a:spcBef>
            </a:pPr>
            <a:r>
              <a:rPr sz="1100" b="1">
                <a:solidFill>
                  <a:srgbClr val="1B6FB5"/>
                </a:solidFill>
                <a:latin typeface="Arial"/>
              </a:rPr>
              <a:t>[5] Gupta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43120" y="3044952"/>
            <a:ext cx="21945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>
                <a:solidFill>
                  <a:srgbClr val="1B6FB5"/>
                </a:solidFill>
                <a:latin typeface="Arial"/>
              </a:rPr>
              <a:t>›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462576" y="2697480"/>
            <a:ext cx="1951878" cy="1097280"/>
          </a:xfrm>
          <a:prstGeom prst="rect">
            <a:avLst/>
          </a:prstGeom>
          <a:solidFill>
            <a:srgbClr val="0B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645456" y="2935224"/>
            <a:ext cx="158611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Arial"/>
              </a:rPr>
              <a:t>Interpretação</a:t>
            </a:r>
          </a:p>
          <a:p>
            <a:pPr algn="l">
              <a:lnSpc>
                <a:spcPct val="115000"/>
              </a:lnSpc>
              <a:spcBef>
                <a:spcPts val="900"/>
              </a:spcBef>
            </a:pPr>
            <a:r>
              <a:rPr sz="1500" b="1">
                <a:solidFill>
                  <a:srgbClr val="FFFFFF"/>
                </a:solidFill>
                <a:latin typeface="Arial"/>
              </a:rPr>
              <a:t>do alerta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62576" y="3941064"/>
            <a:ext cx="195187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1B6FB5"/>
                </a:solidFill>
                <a:latin typeface="Arial"/>
              </a:rPr>
              <a:t>[6] Tormos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4617720"/>
            <a:ext cx="10637215" cy="9525"/>
          </a:xfrm>
          <a:prstGeom prst="rect">
            <a:avLst/>
          </a:prstGeom>
          <a:solidFill>
            <a:srgbClr val="E8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77240" y="4864608"/>
            <a:ext cx="1063721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spc="140">
                <a:solidFill>
                  <a:srgbClr val="5B7285"/>
                </a:solidFill>
                <a:latin typeface="Arial"/>
              </a:rPr>
              <a:t>FORA DO ESCOPO DO PROTÓTIPO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" y="5230368"/>
            <a:ext cx="3399434" cy="548640"/>
          </a:xfrm>
          <a:prstGeom prst="rect">
            <a:avLst/>
          </a:prstGeom>
          <a:solidFill>
            <a:srgbClr val="E8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1005840" y="5376672"/>
            <a:ext cx="294223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5B7285"/>
                </a:solidFill>
                <a:latin typeface="Arial"/>
              </a:rPr>
              <a:t>Modelagem de degradação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96130" y="5230368"/>
            <a:ext cx="3399434" cy="548640"/>
          </a:xfrm>
          <a:prstGeom prst="rect">
            <a:avLst/>
          </a:prstGeom>
          <a:solidFill>
            <a:srgbClr val="E8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4624730" y="5376672"/>
            <a:ext cx="294223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5B7285"/>
                </a:solidFill>
                <a:latin typeface="Arial"/>
              </a:rPr>
              <a:t>Prognóstico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15020" y="5230368"/>
            <a:ext cx="3399434" cy="548640"/>
          </a:xfrm>
          <a:prstGeom prst="rect">
            <a:avLst/>
          </a:prstGeom>
          <a:solidFill>
            <a:srgbClr val="E8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8243620" y="5376672"/>
            <a:ext cx="294223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5B7285"/>
                </a:solidFill>
                <a:latin typeface="Arial"/>
              </a:rPr>
              <a:t>Planejamento da manutenção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5961888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5B7285"/>
                </a:solidFill>
                <a:latin typeface="Arial"/>
              </a:rPr>
              <a:t>As três exigem histórico de falhas validadas, que o protótipo não terá.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77240" y="6144768"/>
            <a:ext cx="10637215" cy="9525"/>
          </a:xfrm>
          <a:prstGeom prst="rect">
            <a:avLst/>
          </a:prstGeom>
          <a:solidFill>
            <a:srgbClr val="E8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777240" y="6309360"/>
            <a:ext cx="744605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B7285"/>
                </a:solidFill>
                <a:latin typeface="Arial"/>
              </a:rPr>
              <a:t>Seminário 1 · Trabalhos relacionados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3290" y="6309360"/>
            <a:ext cx="31911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5B7285"/>
                </a:solidFill>
                <a:latin typeface="Arial"/>
              </a:rPr>
              <a:t>5 /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4160520" cy="6858000"/>
          </a:xfrm>
          <a:prstGeom prst="rect">
            <a:avLst/>
          </a:prstGeom>
          <a:solidFill>
            <a:srgbClr val="0B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77240" y="731520"/>
            <a:ext cx="1828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000" b="1">
                <a:solidFill>
                  <a:srgbClr val="1B6FB5"/>
                </a:solidFill>
                <a:latin typeface="Arial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2926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spc="140">
                <a:solidFill>
                  <a:srgbClr val="7FB4DD"/>
                </a:solidFill>
                <a:latin typeface="Arial"/>
              </a:rPr>
              <a:t>MONITORAMENTO DE CONDIÇÃO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286000"/>
            <a:ext cx="30632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900" b="1">
                <a:solidFill>
                  <a:srgbClr val="FFFFFF"/>
                </a:solidFill>
                <a:latin typeface="Arial"/>
              </a:rPr>
              <a:t>Yousuf et 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972714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7FB4DD"/>
                </a:solidFill>
                <a:latin typeface="Arial"/>
              </a:rPr>
              <a:t>2024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3931920"/>
            <a:ext cx="1280160" cy="41148"/>
          </a:xfrm>
          <a:prstGeom prst="rect">
            <a:avLst/>
          </a:prstGeom>
          <a:solidFill>
            <a:srgbClr val="1B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77240" y="4297680"/>
            <a:ext cx="30632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7FB4DD"/>
                </a:solidFill>
                <a:latin typeface="Arial"/>
              </a:rPr>
              <a:t>Measurement and Control</a:t>
            </a:r>
          </a:p>
          <a:p>
            <a:pPr algn="l">
              <a:lnSpc>
                <a:spcPct val="135000"/>
              </a:lnSpc>
              <a:spcBef>
                <a:spcPts val="900"/>
              </a:spcBef>
            </a:pPr>
            <a:r>
              <a:rPr sz="1200" b="0">
                <a:solidFill>
                  <a:srgbClr val="7FB4DD"/>
                </a:solidFill>
                <a:latin typeface="Arial"/>
              </a:rPr>
              <a:t>v. 57, n. 8, 2024</a:t>
            </a:r>
          </a:p>
          <a:p>
            <a:pPr algn="l">
              <a:lnSpc>
                <a:spcPct val="135000"/>
              </a:lnSpc>
              <a:spcBef>
                <a:spcPts val="900"/>
              </a:spcBef>
            </a:pPr>
            <a:r>
              <a:rPr sz="1200" b="0">
                <a:solidFill>
                  <a:srgbClr val="7FB4DD"/>
                </a:solidFill>
                <a:latin typeface="Arial"/>
              </a:rPr>
              <a:t>DOI 10.1177/00202940241231473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868680"/>
            <a:ext cx="65681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0F2436"/>
                </a:solidFill>
                <a:latin typeface="Arial"/>
              </a:rPr>
              <a:t>Monitoramento de condição e detecção de falhas em motor de indução 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1920240"/>
            <a:ext cx="656813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spc="140">
                <a:solidFill>
                  <a:srgbClr val="1B6FB5"/>
                </a:solidFill>
                <a:latin typeface="Arial"/>
              </a:rPr>
              <a:t>O QUE O TRABALHO ESTUDOU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2331720"/>
            <a:ext cx="656813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lnSpc>
                <a:spcPct val="122000"/>
              </a:lnSpc>
              <a:buClr>
                <a:srgbClr val="1B6FB5"/>
              </a:buClr>
              <a:buFont typeface="Arial"/>
              <a:buChar char="–"/>
            </a:pPr>
            <a:r>
              <a:rPr sz="1600">
                <a:solidFill>
                  <a:srgbClr val="0F2436"/>
                </a:solidFill>
                <a:latin typeface="Arial"/>
              </a:rPr>
              <a:t>Motor de indução CA instrumentado com temperatura, vibração, corrente, tensão e velocidade</a:t>
            </a:r>
          </a:p>
          <a:p>
            <a:pPr marL="274320" indent="-274320">
              <a:lnSpc>
                <a:spcPct val="122000"/>
              </a:lnSpc>
              <a:spcBef>
                <a:spcPts val="1200"/>
              </a:spcBef>
              <a:buClr>
                <a:srgbClr val="1B6FB5"/>
              </a:buClr>
              <a:buFont typeface="Arial"/>
              <a:buChar char="–"/>
            </a:pPr>
            <a:r>
              <a:rPr sz="1600">
                <a:solidFill>
                  <a:srgbClr val="0F2436"/>
                </a:solidFill>
                <a:latin typeface="Arial"/>
              </a:rPr>
              <a:t>Aquisição em Arduino, com alarme local e notificação por GSM</a:t>
            </a:r>
          </a:p>
          <a:p>
            <a:pPr marL="274320" indent="-274320">
              <a:lnSpc>
                <a:spcPct val="122000"/>
              </a:lnSpc>
              <a:spcBef>
                <a:spcPts val="1200"/>
              </a:spcBef>
              <a:buClr>
                <a:srgbClr val="1B6FB5"/>
              </a:buClr>
              <a:buFont typeface="Arial"/>
              <a:buChar char="–"/>
            </a:pPr>
            <a:r>
              <a:rPr sz="1600">
                <a:solidFill>
                  <a:srgbClr val="0F2436"/>
                </a:solidFill>
                <a:latin typeface="Arial"/>
              </a:rPr>
              <a:t>Proteção automática por relé e histórico na plataforma IoT Blynk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46320" y="4288536"/>
            <a:ext cx="6568135" cy="22860"/>
          </a:xfrm>
          <a:prstGeom prst="rect">
            <a:avLst/>
          </a:prstGeom>
          <a:solidFill>
            <a:srgbClr val="1B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846320" y="4562856"/>
            <a:ext cx="656813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spc="140">
                <a:solidFill>
                  <a:srgbClr val="1B6FB5"/>
                </a:solidFill>
                <a:latin typeface="Arial"/>
              </a:rPr>
              <a:t>O QUE LEVAMOS PARA O PROJETO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4974336"/>
            <a:ext cx="656813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lnSpc>
                <a:spcPct val="122000"/>
              </a:lnSpc>
              <a:buClr>
                <a:srgbClr val="1B6FB5"/>
              </a:buClr>
              <a:buFont typeface="Arial"/>
              <a:buChar char="–"/>
            </a:pPr>
            <a:r>
              <a:rPr sz="1600">
                <a:solidFill>
                  <a:srgbClr val="0F2436"/>
                </a:solidFill>
                <a:latin typeface="Arial"/>
              </a:rPr>
              <a:t>Fechar a cadeia inteira, do sensor até a ação</a:t>
            </a:r>
          </a:p>
          <a:p>
            <a:pPr marL="274320" indent="-274320">
              <a:lnSpc>
                <a:spcPct val="122000"/>
              </a:lnSpc>
              <a:spcBef>
                <a:spcPts val="1200"/>
              </a:spcBef>
              <a:buClr>
                <a:srgbClr val="1B6FB5"/>
              </a:buClr>
              <a:buFont typeface="Arial"/>
              <a:buChar char="–"/>
            </a:pPr>
            <a:r>
              <a:rPr sz="1600">
                <a:solidFill>
                  <a:srgbClr val="0F2436"/>
                </a:solidFill>
                <a:latin typeface="Arial"/>
              </a:rPr>
              <a:t>Temperatura, vibração e corrente como lista de partida</a:t>
            </a:r>
          </a:p>
          <a:p>
            <a:pPr marL="274320" indent="-274320">
              <a:lnSpc>
                <a:spcPct val="122000"/>
              </a:lnSpc>
              <a:spcBef>
                <a:spcPts val="1200"/>
              </a:spcBef>
              <a:buClr>
                <a:srgbClr val="1B6FB5"/>
              </a:buClr>
              <a:buFont typeface="Arial"/>
              <a:buChar char="–"/>
            </a:pPr>
            <a:r>
              <a:rPr sz="1600">
                <a:solidFill>
                  <a:srgbClr val="0F2436"/>
                </a:solidFill>
                <a:latin typeface="Arial"/>
              </a:rPr>
              <a:t>Relé como resposta automática à falha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6291072"/>
            <a:ext cx="3063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7FB4DD"/>
                </a:solidFill>
                <a:latin typeface="Arial"/>
              </a:rPr>
              <a:t>6 /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4160520" cy="6858000"/>
          </a:xfrm>
          <a:prstGeom prst="rect">
            <a:avLst/>
          </a:prstGeom>
          <a:solidFill>
            <a:srgbClr val="0B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77240" y="731520"/>
            <a:ext cx="1828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000" b="1">
                <a:solidFill>
                  <a:srgbClr val="1B6FB5"/>
                </a:solidFill>
                <a:latin typeface="Arial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2926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spc="140">
                <a:solidFill>
                  <a:srgbClr val="7FB4DD"/>
                </a:solidFill>
                <a:latin typeface="Arial"/>
              </a:rPr>
              <a:t>MONITORAMENTO DE CONDIÇÃO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286000"/>
            <a:ext cx="30632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FFFFFF"/>
                </a:solidFill>
                <a:latin typeface="Arial"/>
              </a:rPr>
              <a:t>Mohammed et 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885846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7FB4DD"/>
                </a:solidFill>
                <a:latin typeface="Arial"/>
              </a:rPr>
              <a:t>2023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3931920"/>
            <a:ext cx="1280160" cy="41148"/>
          </a:xfrm>
          <a:prstGeom prst="rect">
            <a:avLst/>
          </a:prstGeom>
          <a:solidFill>
            <a:srgbClr val="1B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77240" y="4297680"/>
            <a:ext cx="30632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7FB4DD"/>
                </a:solidFill>
                <a:latin typeface="Arial"/>
              </a:rPr>
              <a:t>J. Européen des Systèmes Automatisés</a:t>
            </a:r>
          </a:p>
          <a:p>
            <a:pPr algn="l">
              <a:lnSpc>
                <a:spcPct val="135000"/>
              </a:lnSpc>
              <a:spcBef>
                <a:spcPts val="900"/>
              </a:spcBef>
            </a:pPr>
            <a:r>
              <a:rPr sz="1200" b="0">
                <a:solidFill>
                  <a:srgbClr val="7FB4DD"/>
                </a:solidFill>
                <a:latin typeface="Arial"/>
              </a:rPr>
              <a:t>v. 56, n. 4, 2023</a:t>
            </a:r>
          </a:p>
          <a:p>
            <a:pPr algn="l">
              <a:lnSpc>
                <a:spcPct val="135000"/>
              </a:lnSpc>
              <a:spcBef>
                <a:spcPts val="900"/>
              </a:spcBef>
            </a:pPr>
            <a:r>
              <a:rPr sz="1200" b="0">
                <a:solidFill>
                  <a:srgbClr val="7FB4DD"/>
                </a:solidFill>
                <a:latin typeface="Arial"/>
              </a:rPr>
              <a:t>DOI 10.18280/jesa.560414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868680"/>
            <a:ext cx="65681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0F2436"/>
                </a:solidFill>
                <a:latin typeface="Arial"/>
              </a:rPr>
              <a:t>Manutenção preditiva de motores elétricos com IoT industrial e aprendizado de máquina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1920240"/>
            <a:ext cx="656813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spc="140">
                <a:solidFill>
                  <a:srgbClr val="1B6FB5"/>
                </a:solidFill>
                <a:latin typeface="Arial"/>
              </a:rPr>
              <a:t>O QUE O TRABALHO ESTUDOU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2331720"/>
            <a:ext cx="656813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lnSpc>
                <a:spcPct val="122000"/>
              </a:lnSpc>
              <a:buClr>
                <a:srgbClr val="1B6FB5"/>
              </a:buClr>
              <a:buFont typeface="Arial"/>
              <a:buChar char="–"/>
            </a:pPr>
            <a:r>
              <a:rPr sz="1600">
                <a:solidFill>
                  <a:srgbClr val="0F2436"/>
                </a:solidFill>
                <a:latin typeface="Arial"/>
              </a:rPr>
              <a:t>Raspberry Pi coletando vibração, corrente e temperatura</a:t>
            </a:r>
          </a:p>
          <a:p>
            <a:pPr marL="274320" indent="-274320">
              <a:lnSpc>
                <a:spcPct val="122000"/>
              </a:lnSpc>
              <a:spcBef>
                <a:spcPts val="1200"/>
              </a:spcBef>
              <a:buClr>
                <a:srgbClr val="1B6FB5"/>
              </a:buClr>
              <a:buFont typeface="Arial"/>
              <a:buChar char="–"/>
            </a:pPr>
            <a:r>
              <a:rPr sz="1600">
                <a:solidFill>
                  <a:srgbClr val="0F2436"/>
                </a:solidFill>
                <a:latin typeface="Arial"/>
              </a:rPr>
              <a:t>Transmissão por MQTT para servidor em nuvem</a:t>
            </a:r>
          </a:p>
          <a:p>
            <a:pPr marL="274320" indent="-274320">
              <a:lnSpc>
                <a:spcPct val="122000"/>
              </a:lnSpc>
              <a:spcBef>
                <a:spcPts val="1200"/>
              </a:spcBef>
              <a:buClr>
                <a:srgbClr val="1B6FB5"/>
              </a:buClr>
              <a:buFont typeface="Arial"/>
              <a:buChar char="–"/>
            </a:pPr>
            <a:r>
              <a:rPr sz="1600">
                <a:solidFill>
                  <a:srgbClr val="0F2436"/>
                </a:solidFill>
                <a:latin typeface="Arial"/>
              </a:rPr>
              <a:t>Cinco algoritmos supervisionados sobre falhas induzidas, com Random Forest à frente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46320" y="4017873"/>
            <a:ext cx="6568135" cy="22860"/>
          </a:xfrm>
          <a:prstGeom prst="rect">
            <a:avLst/>
          </a:prstGeom>
          <a:solidFill>
            <a:srgbClr val="1B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846320" y="4292193"/>
            <a:ext cx="656813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spc="140">
                <a:solidFill>
                  <a:srgbClr val="1B6FB5"/>
                </a:solidFill>
                <a:latin typeface="Arial"/>
              </a:rPr>
              <a:t>O QUE LEVAMOS PARA O PROJETO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4703673"/>
            <a:ext cx="656813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lnSpc>
                <a:spcPct val="122000"/>
              </a:lnSpc>
              <a:buClr>
                <a:srgbClr val="1B6FB5"/>
              </a:buClr>
              <a:buFont typeface="Arial"/>
              <a:buChar char="–"/>
            </a:pPr>
            <a:r>
              <a:rPr sz="1600">
                <a:solidFill>
                  <a:srgbClr val="0F2436"/>
                </a:solidFill>
                <a:latin typeface="Arial"/>
              </a:rPr>
              <a:t>MQTT separa aquisição de análise e libera o ESP32</a:t>
            </a:r>
          </a:p>
          <a:p>
            <a:pPr marL="274320" indent="-274320">
              <a:lnSpc>
                <a:spcPct val="122000"/>
              </a:lnSpc>
              <a:spcBef>
                <a:spcPts val="1200"/>
              </a:spcBef>
              <a:buClr>
                <a:srgbClr val="1B6FB5"/>
              </a:buClr>
              <a:buFont typeface="Arial"/>
              <a:buChar char="–"/>
            </a:pPr>
            <a:r>
              <a:rPr sz="1600">
                <a:solidFill>
                  <a:srgbClr val="0F2436"/>
                </a:solidFill>
                <a:latin typeface="Arial"/>
              </a:rPr>
              <a:t>Falha induzida gera dados sem histórico prévio</a:t>
            </a:r>
          </a:p>
          <a:p>
            <a:pPr marL="274320" indent="-274320">
              <a:lnSpc>
                <a:spcPct val="122000"/>
              </a:lnSpc>
              <a:spcBef>
                <a:spcPts val="1200"/>
              </a:spcBef>
              <a:buClr>
                <a:srgbClr val="1B6FB5"/>
              </a:buClr>
              <a:buFont typeface="Arial"/>
              <a:buChar char="–"/>
            </a:pPr>
            <a:r>
              <a:rPr sz="1600">
                <a:solidFill>
                  <a:srgbClr val="0F2436"/>
                </a:solidFill>
                <a:latin typeface="Arial"/>
              </a:rPr>
              <a:t>Coleta a cada segundo não preserva a vibração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6291072"/>
            <a:ext cx="3063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7FB4DD"/>
                </a:solidFill>
                <a:latin typeface="Arial"/>
              </a:rPr>
              <a:t>7 /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4160520" cy="6858000"/>
          </a:xfrm>
          <a:prstGeom prst="rect">
            <a:avLst/>
          </a:prstGeom>
          <a:solidFill>
            <a:srgbClr val="0B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77240" y="731520"/>
            <a:ext cx="1828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000" b="1">
                <a:solidFill>
                  <a:srgbClr val="1B6FB5"/>
                </a:solidFill>
                <a:latin typeface="Arial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2926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spc="140">
                <a:solidFill>
                  <a:srgbClr val="7FB4DD"/>
                </a:solidFill>
                <a:latin typeface="Arial"/>
              </a:rPr>
              <a:t>DETECÇÃO DE FALHAS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286000"/>
            <a:ext cx="30632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900" b="1">
                <a:solidFill>
                  <a:srgbClr val="FFFFFF"/>
                </a:solidFill>
                <a:latin typeface="Arial"/>
              </a:rPr>
              <a:t>Kolok et 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972714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7FB4DD"/>
                </a:solidFill>
                <a:latin typeface="Arial"/>
              </a:rPr>
              <a:t>2025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3931920"/>
            <a:ext cx="1280160" cy="41148"/>
          </a:xfrm>
          <a:prstGeom prst="rect">
            <a:avLst/>
          </a:prstGeom>
          <a:solidFill>
            <a:srgbClr val="1B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77240" y="4297680"/>
            <a:ext cx="30632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7FB4DD"/>
                </a:solidFill>
                <a:latin typeface="Arial"/>
              </a:rPr>
              <a:t>Sensors</a:t>
            </a:r>
          </a:p>
          <a:p>
            <a:pPr algn="l">
              <a:lnSpc>
                <a:spcPct val="135000"/>
              </a:lnSpc>
              <a:spcBef>
                <a:spcPts val="900"/>
              </a:spcBef>
            </a:pPr>
            <a:r>
              <a:rPr sz="1200" b="0">
                <a:solidFill>
                  <a:srgbClr val="7FB4DD"/>
                </a:solidFill>
                <a:latin typeface="Arial"/>
              </a:rPr>
              <a:t>v. 25, art. 6610, 2025</a:t>
            </a:r>
          </a:p>
          <a:p>
            <a:pPr algn="l">
              <a:lnSpc>
                <a:spcPct val="135000"/>
              </a:lnSpc>
              <a:spcBef>
                <a:spcPts val="900"/>
              </a:spcBef>
            </a:pPr>
            <a:r>
              <a:rPr sz="1200" b="0">
                <a:solidFill>
                  <a:srgbClr val="7FB4DD"/>
                </a:solidFill>
                <a:latin typeface="Arial"/>
              </a:rPr>
              <a:t>DOI 10.3390/s25216610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868680"/>
            <a:ext cx="65681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0F2436"/>
                </a:solidFill>
                <a:latin typeface="Arial"/>
              </a:rPr>
              <a:t>Manutenção preditiva de baixo custo baseada em vibração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1920240"/>
            <a:ext cx="656813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spc="140">
                <a:solidFill>
                  <a:srgbClr val="1B6FB5"/>
                </a:solidFill>
                <a:latin typeface="Arial"/>
              </a:rPr>
              <a:t>O QUE O TRABALHO ESTUDOU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2331720"/>
            <a:ext cx="656813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lnSpc>
                <a:spcPct val="122000"/>
              </a:lnSpc>
              <a:buClr>
                <a:srgbClr val="1B6FB5"/>
              </a:buClr>
              <a:buFont typeface="Arial"/>
              <a:buChar char="–"/>
            </a:pPr>
            <a:r>
              <a:rPr sz="1600">
                <a:solidFill>
                  <a:srgbClr val="0F2436"/>
                </a:solidFill>
                <a:latin typeface="Arial"/>
              </a:rPr>
              <a:t>ESP32 com sensores MEMS de vibração e acústico</a:t>
            </a:r>
          </a:p>
          <a:p>
            <a:pPr marL="274320" indent="-274320">
              <a:lnSpc>
                <a:spcPct val="122000"/>
              </a:lnSpc>
              <a:spcBef>
                <a:spcPts val="1200"/>
              </a:spcBef>
              <a:buClr>
                <a:srgbClr val="1B6FB5"/>
              </a:buClr>
              <a:buFont typeface="Arial"/>
              <a:buChar char="–"/>
            </a:pPr>
            <a:r>
              <a:rPr sz="1600">
                <a:solidFill>
                  <a:srgbClr val="0F2436"/>
                </a:solidFill>
                <a:latin typeface="Arial"/>
              </a:rPr>
              <a:t>RMS no domínio do tempo e FFT no da frequência</a:t>
            </a:r>
          </a:p>
          <a:p>
            <a:pPr marL="274320" indent="-274320">
              <a:lnSpc>
                <a:spcPct val="122000"/>
              </a:lnSpc>
              <a:spcBef>
                <a:spcPts val="1200"/>
              </a:spcBef>
              <a:buClr>
                <a:srgbClr val="1B6FB5"/>
              </a:buClr>
              <a:buFont typeface="Arial"/>
              <a:buChar char="–"/>
            </a:pPr>
            <a:r>
              <a:rPr sz="1600">
                <a:solidFill>
                  <a:srgbClr val="0F2436"/>
                </a:solidFill>
                <a:latin typeface="Arial"/>
              </a:rPr>
              <a:t>Isolation Forest treinado apenas com operação saudável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46320" y="3747211"/>
            <a:ext cx="6568135" cy="22860"/>
          </a:xfrm>
          <a:prstGeom prst="rect">
            <a:avLst/>
          </a:prstGeom>
          <a:solidFill>
            <a:srgbClr val="1B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846320" y="4021531"/>
            <a:ext cx="656813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spc="140">
                <a:solidFill>
                  <a:srgbClr val="1B6FB5"/>
                </a:solidFill>
                <a:latin typeface="Arial"/>
              </a:rPr>
              <a:t>O QUE LEVAMOS PARA O PROJETO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4433011"/>
            <a:ext cx="656813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lnSpc>
                <a:spcPct val="122000"/>
              </a:lnSpc>
              <a:buClr>
                <a:srgbClr val="1B6FB5"/>
              </a:buClr>
              <a:buFont typeface="Arial"/>
              <a:buChar char="–"/>
            </a:pPr>
            <a:r>
              <a:rPr sz="1600">
                <a:solidFill>
                  <a:srgbClr val="0F2436"/>
                </a:solidFill>
                <a:latin typeface="Arial"/>
              </a:rPr>
              <a:t>Dispensa exemplos de falha, nossa maior limitação</a:t>
            </a:r>
          </a:p>
          <a:p>
            <a:pPr marL="274320" indent="-274320">
              <a:lnSpc>
                <a:spcPct val="122000"/>
              </a:lnSpc>
              <a:spcBef>
                <a:spcPts val="1200"/>
              </a:spcBef>
              <a:buClr>
                <a:srgbClr val="1B6FB5"/>
              </a:buClr>
              <a:buFont typeface="Arial"/>
              <a:buChar char="–"/>
            </a:pPr>
            <a:r>
              <a:rPr sz="1600">
                <a:solidFill>
                  <a:srgbClr val="0F2436"/>
                </a:solidFill>
                <a:latin typeface="Arial"/>
              </a:rPr>
              <a:t>Extração de característica cabe na borda</a:t>
            </a:r>
          </a:p>
          <a:p>
            <a:pPr marL="274320" indent="-274320">
              <a:lnSpc>
                <a:spcPct val="122000"/>
              </a:lnSpc>
              <a:spcBef>
                <a:spcPts val="1200"/>
              </a:spcBef>
              <a:buClr>
                <a:srgbClr val="1B6FB5"/>
              </a:buClr>
              <a:buFont typeface="Arial"/>
              <a:buChar char="–"/>
            </a:pPr>
            <a:r>
              <a:rPr sz="1600">
                <a:solidFill>
                  <a:srgbClr val="0F2436"/>
                </a:solidFill>
                <a:latin typeface="Arial"/>
              </a:rPr>
              <a:t>Calibração por equipamento é obrigatória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6291072"/>
            <a:ext cx="3063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7FB4DD"/>
                </a:solidFill>
                <a:latin typeface="Arial"/>
              </a:rPr>
              <a:t>8 /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4160520" cy="6858000"/>
          </a:xfrm>
          <a:prstGeom prst="rect">
            <a:avLst/>
          </a:prstGeom>
          <a:solidFill>
            <a:srgbClr val="0B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77240" y="731520"/>
            <a:ext cx="1828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000" b="1">
                <a:solidFill>
                  <a:srgbClr val="1B6FB5"/>
                </a:solidFill>
                <a:latin typeface="Arial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2926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spc="140">
                <a:solidFill>
                  <a:srgbClr val="7FB4DD"/>
                </a:solidFill>
                <a:latin typeface="Arial"/>
              </a:rPr>
              <a:t>TRATAMENTO DE DADOS E AVALIAÇÃO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286000"/>
            <a:ext cx="30632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900" b="1">
                <a:solidFill>
                  <a:srgbClr val="FFFFFF"/>
                </a:solidFill>
                <a:latin typeface="Arial"/>
              </a:rPr>
              <a:t>Gupta et 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972714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7FB4DD"/>
                </a:solidFill>
                <a:latin typeface="Arial"/>
              </a:rPr>
              <a:t>2023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3931920"/>
            <a:ext cx="1280160" cy="41148"/>
          </a:xfrm>
          <a:prstGeom prst="rect">
            <a:avLst/>
          </a:prstGeom>
          <a:solidFill>
            <a:srgbClr val="1B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77240" y="4297680"/>
            <a:ext cx="30632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7FB4DD"/>
                </a:solidFill>
                <a:latin typeface="Arial"/>
              </a:rPr>
              <a:t>Computers &amp; Industrial Engineering</a:t>
            </a:r>
          </a:p>
          <a:p>
            <a:pPr algn="l">
              <a:lnSpc>
                <a:spcPct val="135000"/>
              </a:lnSpc>
              <a:spcBef>
                <a:spcPts val="900"/>
              </a:spcBef>
            </a:pPr>
            <a:r>
              <a:rPr sz="1200" b="0">
                <a:solidFill>
                  <a:srgbClr val="7FB4DD"/>
                </a:solidFill>
                <a:latin typeface="Arial"/>
              </a:rPr>
              <a:t>v. 177, art. 109033, 2023</a:t>
            </a:r>
          </a:p>
          <a:p>
            <a:pPr algn="l">
              <a:lnSpc>
                <a:spcPct val="135000"/>
              </a:lnSpc>
              <a:spcBef>
                <a:spcPts val="900"/>
              </a:spcBef>
            </a:pPr>
            <a:r>
              <a:rPr sz="1200" b="0">
                <a:solidFill>
                  <a:srgbClr val="7FB4DD"/>
                </a:solidFill>
                <a:latin typeface="Arial"/>
              </a:rPr>
              <a:t>DOI 10.1016/j.cie.2023.109033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868680"/>
            <a:ext cx="65681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0F2436"/>
                </a:solidFill>
                <a:latin typeface="Arial"/>
              </a:rPr>
              <a:t>Manutenção preditiva de esteiras de bagagem de aeroporto com IoT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1920240"/>
            <a:ext cx="656813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spc="140">
                <a:solidFill>
                  <a:srgbClr val="1B6FB5"/>
                </a:solidFill>
                <a:latin typeface="Arial"/>
              </a:rPr>
              <a:t>O QUE O TRABALHO ESTUDOU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2331720"/>
            <a:ext cx="656813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lnSpc>
                <a:spcPct val="122000"/>
              </a:lnSpc>
              <a:buClr>
                <a:srgbClr val="1B6FB5"/>
              </a:buClr>
              <a:buFont typeface="Arial"/>
              <a:buChar char="–"/>
            </a:pPr>
            <a:r>
              <a:rPr sz="1600">
                <a:solidFill>
                  <a:srgbClr val="0F2436"/>
                </a:solidFill>
                <a:latin typeface="Arial"/>
              </a:rPr>
              <a:t>Vibração por IoT em oito esteiras idênticas em operação real</a:t>
            </a:r>
          </a:p>
          <a:p>
            <a:pPr marL="274320" indent="-274320">
              <a:lnSpc>
                <a:spcPct val="122000"/>
              </a:lnSpc>
              <a:spcBef>
                <a:spcPts val="800"/>
              </a:spcBef>
              <a:buClr>
                <a:srgbClr val="1B6FB5"/>
              </a:buClr>
              <a:buFont typeface="Arial"/>
              <a:buChar char="–"/>
            </a:pPr>
            <a:r>
              <a:rPr sz="1600">
                <a:solidFill>
                  <a:srgbClr val="0F2436"/>
                </a:solidFill>
                <a:latin typeface="Arial"/>
              </a:rPr>
              <a:t>Sem histórico até a falha, com limpeza apoiada em RMS</a:t>
            </a:r>
          </a:p>
          <a:p>
            <a:pPr marL="274320" indent="-274320">
              <a:lnSpc>
                <a:spcPct val="122000"/>
              </a:lnSpc>
              <a:spcBef>
                <a:spcPts val="800"/>
              </a:spcBef>
              <a:buClr>
                <a:srgbClr val="1B6FB5"/>
              </a:buClr>
              <a:buFont typeface="Arial"/>
              <a:buChar char="–"/>
            </a:pPr>
            <a:r>
              <a:rPr sz="1600">
                <a:solidFill>
                  <a:srgbClr val="0F2436"/>
                </a:solidFill>
                <a:latin typeface="Arial"/>
              </a:rPr>
              <a:t>Rótulos extraídos de registros de manutenção em texto</a:t>
            </a:r>
          </a:p>
          <a:p>
            <a:pPr marL="274320" indent="-274320">
              <a:lnSpc>
                <a:spcPct val="122000"/>
              </a:lnSpc>
              <a:spcBef>
                <a:spcPts val="800"/>
              </a:spcBef>
              <a:buClr>
                <a:srgbClr val="1B6FB5"/>
              </a:buClr>
              <a:buFont typeface="Arial"/>
              <a:buChar char="–"/>
            </a:pPr>
            <a:r>
              <a:rPr sz="1600">
                <a:solidFill>
                  <a:srgbClr val="0F2436"/>
                </a:solidFill>
                <a:latin typeface="Arial"/>
              </a:rPr>
              <a:t>Quatro classificadores comparados, com Random Forest à frente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46320" y="4036161"/>
            <a:ext cx="6568135" cy="22860"/>
          </a:xfrm>
          <a:prstGeom prst="rect">
            <a:avLst/>
          </a:prstGeom>
          <a:solidFill>
            <a:srgbClr val="1B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846320" y="4310481"/>
            <a:ext cx="656813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spc="140">
                <a:solidFill>
                  <a:srgbClr val="1B6FB5"/>
                </a:solidFill>
                <a:latin typeface="Arial"/>
              </a:rPr>
              <a:t>O QUE LEVAMOS PARA O PROJETO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4721961"/>
            <a:ext cx="656813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lnSpc>
                <a:spcPct val="122000"/>
              </a:lnSpc>
              <a:buClr>
                <a:srgbClr val="1B6FB5"/>
              </a:buClr>
              <a:buFont typeface="Arial"/>
              <a:buChar char="–"/>
            </a:pPr>
            <a:r>
              <a:rPr sz="1600">
                <a:solidFill>
                  <a:srgbClr val="0F2436"/>
                </a:solidFill>
                <a:latin typeface="Arial"/>
              </a:rPr>
              <a:t>É o caso mais próximo do nosso</a:t>
            </a:r>
          </a:p>
          <a:p>
            <a:pPr marL="274320" indent="-274320">
              <a:lnSpc>
                <a:spcPct val="122000"/>
              </a:lnSpc>
              <a:spcBef>
                <a:spcPts val="1200"/>
              </a:spcBef>
              <a:buClr>
                <a:srgbClr val="1B6FB5"/>
              </a:buClr>
              <a:buFont typeface="Arial"/>
              <a:buChar char="–"/>
            </a:pPr>
            <a:r>
              <a:rPr sz="1600">
                <a:solidFill>
                  <a:srgbClr val="0F2436"/>
                </a:solidFill>
                <a:latin typeface="Arial"/>
              </a:rPr>
              <a:t>Limpar ruído e rotular consomem a maior parte do trabalho</a:t>
            </a:r>
          </a:p>
          <a:p>
            <a:pPr marL="274320" indent="-274320">
              <a:lnSpc>
                <a:spcPct val="122000"/>
              </a:lnSpc>
              <a:spcBef>
                <a:spcPts val="1200"/>
              </a:spcBef>
              <a:buClr>
                <a:srgbClr val="1B6FB5"/>
              </a:buClr>
              <a:buFont typeface="Arial"/>
              <a:buChar char="–"/>
            </a:pPr>
            <a:r>
              <a:rPr sz="1600">
                <a:solidFill>
                  <a:srgbClr val="0F2436"/>
                </a:solidFill>
                <a:latin typeface="Arial"/>
              </a:rPr>
              <a:t>Registro escrito de manutenção pode virar rótulo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6291072"/>
            <a:ext cx="3063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7FB4DD"/>
                </a:solidFill>
                <a:latin typeface="Arial"/>
              </a:rPr>
              <a:t>9 /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4160520" cy="6858000"/>
          </a:xfrm>
          <a:prstGeom prst="rect">
            <a:avLst/>
          </a:prstGeom>
          <a:solidFill>
            <a:srgbClr val="0B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77240" y="731520"/>
            <a:ext cx="1828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000" b="1">
                <a:solidFill>
                  <a:srgbClr val="1B6FB5"/>
                </a:solidFill>
                <a:latin typeface="Arial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2926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spc="140">
                <a:solidFill>
                  <a:srgbClr val="7FB4DD"/>
                </a:solidFill>
                <a:latin typeface="Arial"/>
              </a:rPr>
              <a:t>INTERPRETAÇÃO DO ALERTA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286000"/>
            <a:ext cx="30632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900" b="1">
                <a:solidFill>
                  <a:srgbClr val="FFFFFF"/>
                </a:solidFill>
                <a:latin typeface="Arial"/>
              </a:rPr>
              <a:t>Tormos et 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972714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7FB4DD"/>
                </a:solidFill>
                <a:latin typeface="Arial"/>
              </a:rPr>
              <a:t>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3931920"/>
            <a:ext cx="1280160" cy="41148"/>
          </a:xfrm>
          <a:prstGeom prst="rect">
            <a:avLst/>
          </a:prstGeom>
          <a:solidFill>
            <a:srgbClr val="1B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77240" y="4297680"/>
            <a:ext cx="30632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7FB4DD"/>
                </a:solidFill>
                <a:latin typeface="Arial"/>
              </a:rPr>
              <a:t>Algorithms</a:t>
            </a:r>
          </a:p>
          <a:p>
            <a:pPr algn="l">
              <a:lnSpc>
                <a:spcPct val="135000"/>
              </a:lnSpc>
              <a:spcBef>
                <a:spcPts val="900"/>
              </a:spcBef>
            </a:pPr>
            <a:r>
              <a:rPr sz="1200" b="0">
                <a:solidFill>
                  <a:srgbClr val="7FB4DD"/>
                </a:solidFill>
                <a:latin typeface="Arial"/>
              </a:rPr>
              <a:t>v. 19, n. 7, art. 586, 2026</a:t>
            </a:r>
          </a:p>
          <a:p>
            <a:pPr algn="l">
              <a:lnSpc>
                <a:spcPct val="135000"/>
              </a:lnSpc>
              <a:spcBef>
                <a:spcPts val="900"/>
              </a:spcBef>
            </a:pPr>
            <a:r>
              <a:rPr sz="1200" b="0">
                <a:solidFill>
                  <a:srgbClr val="7FB4DD"/>
                </a:solidFill>
                <a:latin typeface="Arial"/>
              </a:rPr>
              <a:t>DOI 10.3390/a19070586</a:t>
            </a:r>
          </a:p>
          <a:p>
            <a:pPr algn="l">
              <a:lnSpc>
                <a:spcPct val="135000"/>
              </a:lnSpc>
              <a:spcBef>
                <a:spcPts val="900"/>
              </a:spcBef>
            </a:pPr>
            <a:r>
              <a:rPr sz="1200" b="0">
                <a:solidFill>
                  <a:srgbClr val="7FB4DD"/>
                </a:solidFill>
                <a:latin typeface="Arial"/>
              </a:rPr>
              <a:t>Acesso aberto, CC BY 4.0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868680"/>
            <a:ext cx="65681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0F2436"/>
                </a:solidFill>
                <a:latin typeface="Arial"/>
              </a:rPr>
              <a:t>Detecção de anomalia e explicação de alertas em ar-condicionado de frota de ônibus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1920240"/>
            <a:ext cx="656813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spc="140">
                <a:solidFill>
                  <a:srgbClr val="1B6FB5"/>
                </a:solidFill>
                <a:latin typeface="Arial"/>
              </a:rPr>
              <a:t>O QUE O TRABALHO ESTUDOU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2331720"/>
            <a:ext cx="656813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lnSpc>
                <a:spcPct val="122000"/>
              </a:lnSpc>
              <a:buClr>
                <a:srgbClr val="1B6FB5"/>
              </a:buClr>
              <a:buFont typeface="Arial"/>
              <a:buChar char="–"/>
            </a:pPr>
            <a:r>
              <a:rPr sz="1600">
                <a:solidFill>
                  <a:srgbClr val="0F2436"/>
                </a:solidFill>
                <a:latin typeface="Arial"/>
              </a:rPr>
              <a:t>Ar-condicionado de ônibus urbanos monitorado por sensores e telemetria</a:t>
            </a:r>
          </a:p>
          <a:p>
            <a:pPr marL="274320" indent="-274320">
              <a:lnSpc>
                <a:spcPct val="122000"/>
              </a:lnSpc>
              <a:spcBef>
                <a:spcPts val="800"/>
              </a:spcBef>
              <a:buClr>
                <a:srgbClr val="1B6FB5"/>
              </a:buClr>
              <a:buFont typeface="Arial"/>
              <a:buChar char="–"/>
            </a:pPr>
            <a:r>
              <a:rPr sz="1600">
                <a:solidFill>
                  <a:srgbClr val="0F2436"/>
                </a:solidFill>
                <a:latin typeface="Arial"/>
              </a:rPr>
              <a:t>Sensores mapeados sobre o ciclo de refrigeração antes de modelar</a:t>
            </a:r>
          </a:p>
          <a:p>
            <a:pPr marL="274320" indent="-274320">
              <a:lnSpc>
                <a:spcPct val="122000"/>
              </a:lnSpc>
              <a:spcBef>
                <a:spcPts val="800"/>
              </a:spcBef>
              <a:buClr>
                <a:srgbClr val="1B6FB5"/>
              </a:buClr>
              <a:buFont typeface="Arial"/>
              <a:buChar char="–"/>
            </a:pPr>
            <a:r>
              <a:rPr sz="1600">
                <a:solidFill>
                  <a:srgbClr val="0F2436"/>
                </a:solidFill>
                <a:latin typeface="Arial"/>
              </a:rPr>
              <a:t>Isolation Forest aprende a operação normal, sem rótulo de falha</a:t>
            </a:r>
          </a:p>
          <a:p>
            <a:pPr marL="274320" indent="-274320">
              <a:lnSpc>
                <a:spcPct val="122000"/>
              </a:lnSpc>
              <a:spcBef>
                <a:spcPts val="800"/>
              </a:spcBef>
              <a:buClr>
                <a:srgbClr val="1B6FB5"/>
              </a:buClr>
              <a:buFont typeface="Arial"/>
              <a:buChar char="–"/>
            </a:pPr>
            <a:r>
              <a:rPr sz="1600">
                <a:solidFill>
                  <a:srgbClr val="0F2436"/>
                </a:solidFill>
                <a:latin typeface="Arial"/>
              </a:rPr>
              <a:t>Kernel SHAP aponta qual variável causou cada desvio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46320" y="4577486"/>
            <a:ext cx="6568135" cy="22860"/>
          </a:xfrm>
          <a:prstGeom prst="rect">
            <a:avLst/>
          </a:prstGeom>
          <a:solidFill>
            <a:srgbClr val="1B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846320" y="4851806"/>
            <a:ext cx="656813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spc="140">
                <a:solidFill>
                  <a:srgbClr val="1B6FB5"/>
                </a:solidFill>
                <a:latin typeface="Arial"/>
              </a:rPr>
              <a:t>O QUE LEVAMOS PARA O PROJETO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5263286"/>
            <a:ext cx="656813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lnSpc>
                <a:spcPct val="122000"/>
              </a:lnSpc>
              <a:buClr>
                <a:srgbClr val="1B6FB5"/>
              </a:buClr>
              <a:buFont typeface="Arial"/>
              <a:buChar char="–"/>
            </a:pPr>
            <a:r>
              <a:rPr sz="1600">
                <a:solidFill>
                  <a:srgbClr val="0F2436"/>
                </a:solidFill>
                <a:latin typeface="Arial"/>
              </a:rPr>
              <a:t>Aprender o normal dispensa exemplos de falha</a:t>
            </a:r>
          </a:p>
          <a:p>
            <a:pPr marL="274320" indent="-274320">
              <a:lnSpc>
                <a:spcPct val="122000"/>
              </a:lnSpc>
              <a:spcBef>
                <a:spcPts val="1200"/>
              </a:spcBef>
              <a:buClr>
                <a:srgbClr val="1B6FB5"/>
              </a:buClr>
              <a:buFont typeface="Arial"/>
              <a:buChar char="–"/>
            </a:pPr>
            <a:r>
              <a:rPr sz="1600">
                <a:solidFill>
                  <a:srgbClr val="0F2436"/>
                </a:solidFill>
                <a:latin typeface="Arial"/>
              </a:rPr>
              <a:t>O alerta indica qual medição disparou o alarme</a:t>
            </a:r>
          </a:p>
          <a:p>
            <a:pPr marL="274320" indent="-274320">
              <a:lnSpc>
                <a:spcPct val="122000"/>
              </a:lnSpc>
              <a:spcBef>
                <a:spcPts val="1200"/>
              </a:spcBef>
              <a:buClr>
                <a:srgbClr val="1B6FB5"/>
              </a:buClr>
              <a:buFont typeface="Arial"/>
              <a:buChar char="–"/>
            </a:pPr>
            <a:r>
              <a:rPr sz="1600">
                <a:solidFill>
                  <a:srgbClr val="0F2436"/>
                </a:solidFill>
                <a:latin typeface="Arial"/>
              </a:rPr>
              <a:t>A explicação roda no servidor, não no ESP32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6291072"/>
            <a:ext cx="3063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7FB4DD"/>
                </a:solidFill>
                <a:latin typeface="Arial"/>
              </a:rPr>
              <a:t>10 /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2487168"/>
            <a:ext cx="1109167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6000" b="1">
                <a:solidFill>
                  <a:srgbClr val="FFFFFF"/>
                </a:solidFill>
                <a:latin typeface="Arial"/>
              </a:rPr>
              <a:t>Obrigado!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529584"/>
            <a:ext cx="110916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0">
                <a:solidFill>
                  <a:srgbClr val="7FB4DD"/>
                </a:solidFill>
                <a:latin typeface="Arial"/>
              </a:rPr>
              <a:t>Perguntas e Discussão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26280"/>
            <a:ext cx="110916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7FB4DD"/>
                </a:solidFill>
                <a:latin typeface="Arial"/>
              </a:rPr>
              <a:t>GRUPO 3  ·  IBMEC RIO DE JANEIRO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846320"/>
            <a:ext cx="110916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Arial"/>
              </a:rPr>
              <a:t>Igor Costa   ·   Jorge Alves   ·   Ian Dias   ·   Davi Ito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1109167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>
                <a:solidFill>
                  <a:srgbClr val="7FB4DD"/>
                </a:solidFill>
                <a:latin typeface="Arial"/>
              </a:rPr>
              <a:t>Manutenção preditiva de ar-condicionado  ·  IBM3118 Sistemas Embarcados (2026.2)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